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4D9273C-87F7-5F7E-281A-765234290026}">
          <p14:sldIdLst>
            <p14:sldId id="256"/>
            <p14:sldId id="257"/>
          </p14:sldIdLst>
        </p14:section>
        <p14:section name="Method" id="{2E0095BF-26E4-E0E8-DA8B-FAA285DFBA2C}">
          <p14:sldIdLst>
            <p14:sldId id="258"/>
            <p14:sldId id="259"/>
            <p14:sldId id="260"/>
            <p14:sldId id="261"/>
            <p14:sldId id="262"/>
            <p14:sldId id="263"/>
            <p14:sldId id="264"/>
          </p14:sldIdLst>
        </p14:section>
        <p14:section name="Evaluation" id="{1A7BAA05-CCB6-B755-FA9B-1A305403582D}">
          <p14:sldIdLst>
            <p14:sldId id="265"/>
            <p14:sldId id="266"/>
            <p14:sldId id="267"/>
          </p14:sldIdLst>
        </p14:section>
        <p14:section name="Conclusion" id="{7A4FD737-61B8-EA5B-53D1-DC65BAEFE718}">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B2A41"/>
                </a:solidFill>
                <a:latin typeface="+mn-lt"/>
              </a:defRPr>
            </a:pPr>
            <a:r>
              <a:rPr sz="1200" b="0" i="0" u="none" strike="noStrike">
                <a:solidFill>
                  <a:srgbClr val="1B2A41"/>
                </a:solidFill>
                <a:latin typeface="+mn-lt"/>
              </a:rPr>
              <a:t>Character error rate (%), lower is better</a:t>
            </a:r>
          </a:p>
        </c:rich>
      </c:tx>
      <c:overlay val="0"/>
    </c:title>
    <c:autoTitleDeleted val="0"/>
    <c:plotArea>
      <c:layout/>
      <c:barChart>
        <c:barDir val="col"/>
        <c:grouping val="clustered"/>
        <c:varyColors val="0"/>
        <c:ser>
          <c:idx val="0"/>
          <c:order val="0"/>
          <c:tx>
            <c:strRef>
              <c:f>Sheet1!$B$1</c:f>
              <c:strCache>
                <c:ptCount val="1"/>
                <c:pt idx="0">
                  <c:v>EasyOCR on the capture directly</c:v>
                </c:pt>
              </c:strCache>
            </c:strRef>
          </c:tx>
          <c:spPr>
            <a:solidFill>
              <a:srgbClr val="8C9AAE"/>
            </a:solidFill>
            <a:effectLst/>
          </c:spPr>
          <c:invertIfNegative val="0"/>
          <c:cat>
            <c:strRef>
              <c:f>Sheet1!$A$2:$A$8</c:f>
              <c:strCache>
                <c:ptCount val="7"/>
                <c:pt idx="0">
                  <c:v>Original</c:v>
                </c:pt>
                <c:pt idx="1">
                  <c:v>Rotated 4°</c:v>
                </c:pt>
                <c:pt idx="2">
                  <c:v>Rotated 8°</c:v>
                </c:pt>
                <c:pt idx="3">
                  <c:v>Desk, mild</c:v>
                </c:pt>
                <c:pt idx="4">
                  <c:v>Desk, strong</c:v>
                </c:pt>
                <c:pt idx="5">
                  <c:v>Side shadow</c:v>
                </c:pt>
                <c:pt idx="6">
                  <c:v>Blur + noise</c:v>
                </c:pt>
              </c:strCache>
            </c:strRef>
          </c:cat>
          <c:val>
            <c:numRef>
              <c:f>Sheet1!$B$2:$B$8</c:f>
              <c:numCache>
                <c:formatCode>General</c:formatCode>
                <c:ptCount val="7"/>
                <c:pt idx="0">
                  <c:v>50</c:v>
                </c:pt>
                <c:pt idx="1">
                  <c:v>55.6</c:v>
                </c:pt>
                <c:pt idx="2">
                  <c:v>77.8</c:v>
                </c:pt>
                <c:pt idx="3">
                  <c:v>52.4</c:v>
                </c:pt>
                <c:pt idx="4">
                  <c:v>62.7</c:v>
                </c:pt>
                <c:pt idx="5">
                  <c:v>46</c:v>
                </c:pt>
                <c:pt idx="6">
                  <c:v>46.8</c:v>
                </c:pt>
              </c:numCache>
            </c:numRef>
          </c:val>
          <c:extLst>
            <c:ext xmlns:c16="http://schemas.microsoft.com/office/drawing/2014/chart" uri="{C3380CC4-5D6E-409C-BE32-E72D297353CC}">
              <c16:uniqueId val="{00000000-C9B5-4C35-94FA-967DBD65FDCF}"/>
            </c:ext>
          </c:extLst>
        </c:ser>
        <c:ser>
          <c:idx val="1"/>
          <c:order val="1"/>
          <c:tx>
            <c:strRef>
              <c:f>Sheet1!$C$1</c:f>
              <c:strCache>
                <c:ptCount val="1"/>
                <c:pt idx="0">
                  <c:v>Full pipeline</c:v>
                </c:pt>
              </c:strCache>
            </c:strRef>
          </c:tx>
          <c:spPr>
            <a:solidFill>
              <a:srgbClr val="2457A6"/>
            </a:solidFill>
            <a:effectLst/>
          </c:spPr>
          <c:invertIfNegative val="0"/>
          <c:cat>
            <c:strRef>
              <c:f>Sheet1!$A$2:$A$8</c:f>
              <c:strCache>
                <c:ptCount val="7"/>
                <c:pt idx="0">
                  <c:v>Original</c:v>
                </c:pt>
                <c:pt idx="1">
                  <c:v>Rotated 4°</c:v>
                </c:pt>
                <c:pt idx="2">
                  <c:v>Rotated 8°</c:v>
                </c:pt>
                <c:pt idx="3">
                  <c:v>Desk, mild</c:v>
                </c:pt>
                <c:pt idx="4">
                  <c:v>Desk, strong</c:v>
                </c:pt>
                <c:pt idx="5">
                  <c:v>Side shadow</c:v>
                </c:pt>
                <c:pt idx="6">
                  <c:v>Blur + noise</c:v>
                </c:pt>
              </c:strCache>
            </c:strRef>
          </c:cat>
          <c:val>
            <c:numRef>
              <c:f>Sheet1!$C$2:$C$8</c:f>
              <c:numCache>
                <c:formatCode>General</c:formatCode>
                <c:ptCount val="7"/>
                <c:pt idx="0">
                  <c:v>40.5</c:v>
                </c:pt>
                <c:pt idx="1">
                  <c:v>45.2</c:v>
                </c:pt>
                <c:pt idx="2">
                  <c:v>39.700000000000003</c:v>
                </c:pt>
                <c:pt idx="3">
                  <c:v>41.3</c:v>
                </c:pt>
                <c:pt idx="4">
                  <c:v>44.4</c:v>
                </c:pt>
                <c:pt idx="5">
                  <c:v>38.1</c:v>
                </c:pt>
                <c:pt idx="6">
                  <c:v>45.2</c:v>
                </c:pt>
              </c:numCache>
            </c:numRef>
          </c:val>
          <c:extLst>
            <c:ext xmlns:c16="http://schemas.microsoft.com/office/drawing/2014/chart" uri="{C3380CC4-5D6E-409C-BE32-E72D297353CC}">
              <c16:uniqueId val="{00000001-C9B5-4C35-94FA-967DBD65FDCF}"/>
            </c:ext>
          </c:extLst>
        </c:ser>
        <c:ser>
          <c:idx val="2"/>
          <c:order val="2"/>
          <c:tx>
            <c:strRef>
              <c:f>Sheet1!$D$1</c:f>
              <c:strCache>
                <c:ptCount val="1"/>
                <c:pt idx="0">
                  <c:v>Pipeline + lexicon</c:v>
                </c:pt>
              </c:strCache>
            </c:strRef>
          </c:tx>
          <c:spPr>
            <a:solidFill>
              <a:srgbClr val="1B9E6E"/>
            </a:solidFill>
            <a:effectLst/>
          </c:spPr>
          <c:invertIfNegative val="0"/>
          <c:cat>
            <c:strRef>
              <c:f>Sheet1!$A$2:$A$8</c:f>
              <c:strCache>
                <c:ptCount val="7"/>
                <c:pt idx="0">
                  <c:v>Original</c:v>
                </c:pt>
                <c:pt idx="1">
                  <c:v>Rotated 4°</c:v>
                </c:pt>
                <c:pt idx="2">
                  <c:v>Rotated 8°</c:v>
                </c:pt>
                <c:pt idx="3">
                  <c:v>Desk, mild</c:v>
                </c:pt>
                <c:pt idx="4">
                  <c:v>Desk, strong</c:v>
                </c:pt>
                <c:pt idx="5">
                  <c:v>Side shadow</c:v>
                </c:pt>
                <c:pt idx="6">
                  <c:v>Blur + noise</c:v>
                </c:pt>
              </c:strCache>
            </c:strRef>
          </c:cat>
          <c:val>
            <c:numRef>
              <c:f>Sheet1!$D$2:$D$8</c:f>
              <c:numCache>
                <c:formatCode>General</c:formatCode>
                <c:ptCount val="7"/>
                <c:pt idx="0">
                  <c:v>36.5</c:v>
                </c:pt>
                <c:pt idx="1">
                  <c:v>38.1</c:v>
                </c:pt>
                <c:pt idx="2">
                  <c:v>34.1</c:v>
                </c:pt>
                <c:pt idx="3">
                  <c:v>34.9</c:v>
                </c:pt>
                <c:pt idx="4">
                  <c:v>40.5</c:v>
                </c:pt>
                <c:pt idx="5">
                  <c:v>31.7</c:v>
                </c:pt>
                <c:pt idx="6">
                  <c:v>38.9</c:v>
                </c:pt>
              </c:numCache>
            </c:numRef>
          </c:val>
          <c:extLst>
            <c:ext xmlns:c16="http://schemas.microsoft.com/office/drawing/2014/chart" uri="{C3380CC4-5D6E-409C-BE32-E72D297353CC}">
              <c16:uniqueId val="{00000002-C9B5-4C35-94FA-967DBD65FDCF}"/>
            </c:ext>
          </c:extLst>
        </c:ser>
        <c:dLbls>
          <c:showLegendKey val="0"/>
          <c:showVal val="0"/>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568"/>
                </a:solidFill>
                <a:latin typeface="+mn-lt"/>
              </a:defRPr>
            </a:pPr>
            <a:endParaRPr lang="en-US"/>
          </a:p>
        </c:txPr>
        <c:crossAx val="2094734552"/>
        <c:crosses val="autoZero"/>
        <c:auto val="1"/>
        <c:lblAlgn val="ctr"/>
        <c:lblOffset val="100"/>
        <c:noMultiLvlLbl val="1"/>
      </c:catAx>
      <c:valAx>
        <c:axId val="2094734552"/>
        <c:scaling>
          <c:orientation val="minMax"/>
          <c:max val="80"/>
          <c:min val="0"/>
        </c:scaling>
        <c:delete val="0"/>
        <c:axPos val="l"/>
        <c:majorGridlines>
          <c:spPr>
            <a:ln w="6350" cap="flat">
              <a:solidFill>
                <a:srgbClr val="E2E8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568"/>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000">
              <a:solidFill>
                <a:srgbClr val="4A5568"/>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0571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implements a pipeline that takes a phone photo of a handwritten notebook page and extracts its text, with an optional extractive summary. All code is in one Python file and runs on a CPU.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phone photo combines four kinds of degradation: geometric, photometric, structural and recognition-related. The objectives follow the pipeline: geometry first, then appearance, then recognition, post-processing and evaluation.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stages run in this order. Stage 2 runs only when stage 1 finds a valid page boundary. Stage 5, the lexicon in stage 8 and stage 9 are optional and controlled by command-line flags.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Canny thresholds are tried because the right sensitivity depends on lighting and background. The contrast test was added after finding that, on already-cropped photos, the dilated block of writing was accepted as the page and the warp cut off the first and last lines. On the real test photo no boundary is found, so stage 2 is skipped there.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Corners are sorted with x+y and y-x so that each maps to the right corner of the output rectangle. The homography has eight unknowns, solved from four point pairs. Deskew uses the probabilistic Hough transform on the ruled lines and text baselines; the median angle is robust to a few diagonal strokes.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CLAHE equalises contrast per tile with a clip limit, so shadows are handled locally without amplifying paper grain. It is applied only to lightness so the ink colour is unchanged. The 31-pixel dilation removes pen strokes and leaves an estimate of the paper and shadows, which is divided out. On the test photo, the CLAHE colour version gave the lowest error with EasyOCR.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ruled-line step uses a morphological opening whose element is longer than any letter, so only the ruling survives in the mask. Sauvola lowers the threshold where the local standard deviation is small, keeping blank paper white. EasyOCR performed worse on binary images, so they are used only for Tesseract.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CTC lets the recogniser read a word as a sequence without segmenting individual characters, which suits joined handwriting. The quality score rewards confidence and words of three or more letters, and penalises short fragments and noise symbols. In Tesseract-only mode it selected a weaker candidate than the best one, which is noted as a limitation.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Clean-up only removes layout debris. The lexicon is optional and general: it matches tokens against a user-supplied subject vocabulary. Incorrect replacements happen when the true word is not in the vocabulary. The earlier substitution table was removed because it encoded the answers for one test image.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measured against a typed transcript of the test page. WER is close to 100% whenever most words contain at least one wrong character, so CER is the more informative measure here. Each synthetic copy keeps the same ground truth, so differences come only from the degradation applied.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Grey is EasyOCR applied directly to each degraded capture, blue is the full pipeline, green adds the lexicon. The pipeline values vary little across conditions. The evaluation uses one real page, so these figures show a trend rather than a general accuracy.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image version was read separately to see which processing step helps which engine. Values above 100 percent occur when the output contains many extra fragments. Runtime is dominated by recognition; all image processing together takes well under a second.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final review of handwritten_scanner_ocr.py found eight inconsistencies. The first two affect the reported results; the others make the program behave as its options and messages describe.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limitation is recognition accuracy on joined handwriting. The evaluation is small, so the reported figures describe this test page and its controlled copies rather than handwriting in general.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143000"/>
            <a:ext cx="8229600" cy="1005840"/>
          </a:xfrm>
          <a:prstGeom prst="rect">
            <a:avLst/>
          </a:prstGeom>
          <a:noFill/>
          <a:ln/>
        </p:spPr>
        <p:txBody>
          <a:bodyPr wrap="square" rtlCol="0"/>
          <a:lstStyle>
            <a:lvl1pPr marL="0" indent="0" algn="l">
              <a:buNone/>
              <a:defRPr lang="en-US" sz="4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rtlCol="0"/>
          <a:lstStyle>
            <a:lvl1pPr marL="0" indent="0" algn="l">
              <a:buNone/>
              <a:defRPr lang="en-US" sz="28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2800" dirty="0"/>
          </a:p>
        </p:txBody>
      </p:sp>
      <p:sp>
        <p:nvSpPr>
          <p:cNvPr id="3" name="Text 0"/>
          <p:cNvSpPr/>
          <p:nvPr/>
        </p:nvSpPr>
        <p:spPr>
          <a:xfrm>
            <a:off x="457200" y="4773168"/>
            <a:ext cx="4572000" cy="256032"/>
          </a:xfrm>
          <a:prstGeom prst="rect">
            <a:avLst/>
          </a:prstGeom>
          <a:noFill/>
          <a:ln/>
        </p:spPr>
        <p:txBody>
          <a:bodyPr wrap="square" lIns="0" tIns="0" rIns="0" bIns="0" rtlCol="0" anchor="ctr"/>
          <a:lstStyle/>
          <a:p>
            <a:pPr marL="0" indent="0">
              <a:buNone/>
            </a:pPr>
            <a:r>
              <a:rPr lang="en-US" sz="1000" dirty="0">
                <a:solidFill>
                  <a:schemeClr val="tx2"/>
                </a:solidFill>
              </a:rPr>
              <a:t>Handwritten Document Scanner</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640080"/>
            <a:ext cx="8229600" cy="320040"/>
          </a:xfrm>
          <a:prstGeom prst="rect">
            <a:avLst/>
          </a:prstGeom>
          <a:noFill/>
          <a:ln/>
        </p:spPr>
        <p:txBody>
          <a:bodyPr wrap="square" lIns="0" tIns="0" rIns="0" bIns="0" rtlCol="0" anchor="ctr"/>
          <a:lstStyle/>
          <a:p>
            <a:pPr marL="0" indent="0">
              <a:buNone/>
            </a:pPr>
            <a:r>
              <a:rPr lang="en-US" sz="1200" b="1" kern="0" spc="200" dirty="0">
                <a:solidFill>
                  <a:schemeClr val="accent6"/>
                </a:solidFill>
              </a:rPr>
              <a:t>IMAGE PROCESSING &amp; COMPUTER VISION · TEAM 15</a:t>
            </a:r>
            <a:endParaRPr lang="en-US" sz="1200" dirty="0"/>
          </a:p>
        </p:txBody>
      </p:sp>
      <p:sp>
        <p:nvSpPr>
          <p:cNvPr id="3" name="Text 0"/>
          <p:cNvSpPr>
            <a:spLocks noGrp="1"/>
          </p:cNvSpPr>
          <p:nvPr>
            <p:ph type="title" idx="100" hasCustomPrompt="1"/>
          </p:nvPr>
        </p:nvSpPr>
        <p:spPr>
          <a:xfrm>
            <a:off x="457200" y="1143000"/>
            <a:ext cx="8229600" cy="1005840"/>
          </a:xfrm>
          <a:prstGeom prst="rect">
            <a:avLst/>
          </a:prstGeom>
          <a:noFill/>
          <a:ln/>
        </p:spPr>
        <p:txBody>
          <a:bodyPr wrap="square" lIns="0" tIns="0" rIns="0" bIns="0" rtlCol="0" anchor="t"/>
          <a:lstStyle/>
          <a:p>
            <a:pPr marL="0" indent="0" algn="l">
              <a:buNone/>
            </a:pPr>
            <a:r>
              <a:rPr lang="en-US" sz="4000" b="1" dirty="0">
                <a:solidFill>
                  <a:schemeClr val="bg1"/>
                </a:solidFill>
                <a:latin typeface="Cambria" pitchFamily="34" charset="0"/>
                <a:ea typeface="Cambria" pitchFamily="34" charset="-122"/>
                <a:cs typeface="Cambria" pitchFamily="34" charset="-120"/>
              </a:rPr>
              <a:t>Handwritten Document Scanner</a:t>
            </a:r>
            <a:endParaRPr lang="en-US" sz="4000" dirty="0"/>
          </a:p>
        </p:txBody>
      </p:sp>
      <p:sp>
        <p:nvSpPr>
          <p:cNvPr id="4" name="Text 2"/>
          <p:cNvSpPr txBox="1"/>
          <p:nvPr/>
        </p:nvSpPr>
        <p:spPr>
          <a:xfrm>
            <a:off x="457200" y="2103120"/>
            <a:ext cx="7680960" cy="822960"/>
          </a:xfrm>
          <a:prstGeom prst="rect">
            <a:avLst/>
          </a:prstGeom>
          <a:noFill/>
          <a:ln/>
        </p:spPr>
        <p:txBody>
          <a:bodyPr wrap="square" lIns="0" tIns="0" rIns="0" bIns="0" rtlCol="0" anchor="ctr"/>
          <a:lstStyle/>
          <a:p>
            <a:pPr marL="0" indent="0">
              <a:buNone/>
            </a:pPr>
            <a:r>
              <a:rPr lang="en-US" sz="1600" dirty="0">
                <a:solidFill>
                  <a:schemeClr val="accent6"/>
                </a:solidFill>
              </a:rPr>
              <a:t>Page detection, perspective correction, handwriting-specific enhancement and OCR for phone photos of notebook pages, implemented in handwritten_scanner_ocr.py</a:t>
            </a:r>
            <a:endParaRPr lang="en-US" sz="1600" dirty="0"/>
          </a:p>
        </p:txBody>
      </p:sp>
      <p:sp>
        <p:nvSpPr>
          <p:cNvPr id="5" name="team-dot-0"/>
          <p:cNvSpPr/>
          <p:nvPr/>
        </p:nvSpPr>
        <p:spPr>
          <a:xfrm>
            <a:off x="457200" y="3767328"/>
            <a:ext cx="128016" cy="128016"/>
          </a:xfrm>
          <a:prstGeom prst="ellipse">
            <a:avLst/>
          </a:prstGeom>
          <a:solidFill>
            <a:schemeClr val="accent1"/>
          </a:solidFill>
          <a:ln/>
        </p:spPr>
      </p:sp>
      <p:sp>
        <p:nvSpPr>
          <p:cNvPr id="6" name="Text 4"/>
          <p:cNvSpPr txBox="1"/>
          <p:nvPr/>
        </p:nvSpPr>
        <p:spPr>
          <a:xfrm>
            <a:off x="676656" y="3611880"/>
            <a:ext cx="1828800" cy="685800"/>
          </a:xfrm>
          <a:prstGeom prst="rect">
            <a:avLst/>
          </a:prstGeom>
          <a:noFill/>
          <a:ln/>
        </p:spPr>
        <p:txBody>
          <a:bodyPr wrap="square" lIns="0" tIns="0" rIns="0" bIns="0" rtlCol="0" anchor="t"/>
          <a:lstStyle/>
          <a:p>
            <a:pPr marL="0" indent="0">
              <a:buNone/>
            </a:pPr>
            <a:r>
              <a:rPr lang="en-US" sz="1300" b="1" dirty="0">
                <a:solidFill>
                  <a:schemeClr val="bg1"/>
                </a:solidFill>
              </a:rPr>
              <a:t>Vishesh Vigh</a:t>
            </a:r>
            <a:endParaRPr lang="en-US" sz="1300" dirty="0"/>
          </a:p>
          <a:p>
            <a:pPr marL="0" indent="0">
              <a:buNone/>
            </a:pPr>
            <a:r>
              <a:rPr lang="en-US" sz="1300" dirty="0">
                <a:solidFill>
                  <a:schemeClr val="accent6"/>
                </a:solidFill>
              </a:rPr>
              <a:t>20233583</a:t>
            </a:r>
            <a:endParaRPr lang="en-US" sz="1300" dirty="0"/>
          </a:p>
        </p:txBody>
      </p:sp>
      <p:sp>
        <p:nvSpPr>
          <p:cNvPr id="7" name="team-dot-1"/>
          <p:cNvSpPr/>
          <p:nvPr/>
        </p:nvSpPr>
        <p:spPr>
          <a:xfrm>
            <a:off x="2560320" y="3767328"/>
            <a:ext cx="128016" cy="128016"/>
          </a:xfrm>
          <a:prstGeom prst="ellipse">
            <a:avLst/>
          </a:prstGeom>
          <a:solidFill>
            <a:schemeClr val="accent1"/>
          </a:solidFill>
          <a:ln/>
        </p:spPr>
      </p:sp>
      <p:sp>
        <p:nvSpPr>
          <p:cNvPr id="8" name="Text 6"/>
          <p:cNvSpPr txBox="1"/>
          <p:nvPr/>
        </p:nvSpPr>
        <p:spPr>
          <a:xfrm>
            <a:off x="2779776" y="3611880"/>
            <a:ext cx="1828800" cy="685800"/>
          </a:xfrm>
          <a:prstGeom prst="rect">
            <a:avLst/>
          </a:prstGeom>
          <a:noFill/>
          <a:ln/>
        </p:spPr>
        <p:txBody>
          <a:bodyPr wrap="square" lIns="0" tIns="0" rIns="0" bIns="0" rtlCol="0" anchor="t"/>
          <a:lstStyle/>
          <a:p>
            <a:pPr marL="0" indent="0">
              <a:buNone/>
            </a:pPr>
            <a:r>
              <a:rPr lang="en-US" sz="1300" b="1" dirty="0">
                <a:solidFill>
                  <a:schemeClr val="bg1"/>
                </a:solidFill>
              </a:rPr>
              <a:t>Siddhesh Choubey</a:t>
            </a:r>
            <a:endParaRPr lang="en-US" sz="1300" dirty="0"/>
          </a:p>
          <a:p>
            <a:pPr marL="0" indent="0">
              <a:buNone/>
            </a:pPr>
            <a:r>
              <a:rPr lang="en-US" sz="1300" dirty="0">
                <a:solidFill>
                  <a:schemeClr val="accent6"/>
                </a:solidFill>
              </a:rPr>
              <a:t>20233569</a:t>
            </a:r>
            <a:endParaRPr lang="en-US" sz="1300" dirty="0"/>
          </a:p>
        </p:txBody>
      </p:sp>
      <p:sp>
        <p:nvSpPr>
          <p:cNvPr id="9" name="team-dot-2"/>
          <p:cNvSpPr/>
          <p:nvPr/>
        </p:nvSpPr>
        <p:spPr>
          <a:xfrm>
            <a:off x="4663440" y="3767328"/>
            <a:ext cx="128016" cy="128016"/>
          </a:xfrm>
          <a:prstGeom prst="ellipse">
            <a:avLst/>
          </a:prstGeom>
          <a:solidFill>
            <a:schemeClr val="accent1"/>
          </a:solidFill>
          <a:ln/>
        </p:spPr>
      </p:sp>
      <p:sp>
        <p:nvSpPr>
          <p:cNvPr id="10" name="Text 8"/>
          <p:cNvSpPr txBox="1"/>
          <p:nvPr/>
        </p:nvSpPr>
        <p:spPr>
          <a:xfrm>
            <a:off x="4882896" y="3611880"/>
            <a:ext cx="1828800" cy="685800"/>
          </a:xfrm>
          <a:prstGeom prst="rect">
            <a:avLst/>
          </a:prstGeom>
          <a:noFill/>
          <a:ln/>
        </p:spPr>
        <p:txBody>
          <a:bodyPr wrap="square" lIns="0" tIns="0" rIns="0" bIns="0" rtlCol="0" anchor="t"/>
          <a:lstStyle/>
          <a:p>
            <a:pPr marL="0" indent="0">
              <a:buNone/>
            </a:pPr>
            <a:r>
              <a:rPr lang="en-US" sz="1300" b="1" dirty="0">
                <a:solidFill>
                  <a:schemeClr val="bg1"/>
                </a:solidFill>
              </a:rPr>
              <a:t>Shreyash Kisan Khilare</a:t>
            </a:r>
            <a:endParaRPr lang="en-US" sz="1300" dirty="0"/>
          </a:p>
          <a:p>
            <a:pPr marL="0" indent="0">
              <a:buNone/>
            </a:pPr>
            <a:r>
              <a:rPr lang="en-US" sz="1300" dirty="0">
                <a:solidFill>
                  <a:schemeClr val="accent6"/>
                </a:solidFill>
              </a:rPr>
              <a:t>20233566</a:t>
            </a:r>
            <a:endParaRPr lang="en-US" sz="1300" dirty="0"/>
          </a:p>
        </p:txBody>
      </p:sp>
      <p:sp>
        <p:nvSpPr>
          <p:cNvPr id="11" name="team-dot-3"/>
          <p:cNvSpPr/>
          <p:nvPr/>
        </p:nvSpPr>
        <p:spPr>
          <a:xfrm>
            <a:off x="6766560" y="3767328"/>
            <a:ext cx="128016" cy="128016"/>
          </a:xfrm>
          <a:prstGeom prst="ellipse">
            <a:avLst/>
          </a:prstGeom>
          <a:solidFill>
            <a:schemeClr val="accent1"/>
          </a:solidFill>
          <a:ln/>
        </p:spPr>
      </p:sp>
      <p:sp>
        <p:nvSpPr>
          <p:cNvPr id="12" name="Text 10"/>
          <p:cNvSpPr txBox="1"/>
          <p:nvPr/>
        </p:nvSpPr>
        <p:spPr>
          <a:xfrm>
            <a:off x="6986016" y="3611880"/>
            <a:ext cx="1828800" cy="685800"/>
          </a:xfrm>
          <a:prstGeom prst="rect">
            <a:avLst/>
          </a:prstGeom>
          <a:noFill/>
          <a:ln/>
        </p:spPr>
        <p:txBody>
          <a:bodyPr wrap="square" lIns="0" tIns="0" rIns="0" bIns="0" rtlCol="0" anchor="t"/>
          <a:lstStyle/>
          <a:p>
            <a:pPr marL="0" indent="0">
              <a:buNone/>
            </a:pPr>
            <a:r>
              <a:rPr lang="en-US" sz="1300" b="1" dirty="0">
                <a:solidFill>
                  <a:schemeClr val="bg1"/>
                </a:solidFill>
              </a:rPr>
              <a:t>Surya Pratap</a:t>
            </a:r>
            <a:endParaRPr lang="en-US" sz="1300" dirty="0"/>
          </a:p>
          <a:p>
            <a:pPr marL="0" indent="0">
              <a:buNone/>
            </a:pPr>
            <a:r>
              <a:rPr lang="en-US" sz="1300" dirty="0">
                <a:solidFill>
                  <a:schemeClr val="accent6"/>
                </a:solidFill>
              </a:rPr>
              <a:t>20233283</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Problem and objectives</a:t>
            </a:r>
            <a:endParaRPr lang="en-US" sz="2800" dirty="0"/>
          </a:p>
        </p:txBody>
      </p:sp>
      <p:pic>
        <p:nvPicPr>
          <p:cNvPr id="3" name="test-photo" descr="Phone photo of a ruled notebook page with five lines of blue handwriting"/>
          <p:cNvPicPr>
            <a:picLocks noChangeAspect="1"/>
          </p:cNvPicPr>
          <p:nvPr/>
        </p:nvPicPr>
        <p:blipFill>
          <a:blip r:embed="rId3"/>
          <a:stretch>
            <a:fillRect/>
          </a:stretch>
        </p:blipFill>
        <p:spPr>
          <a:xfrm>
            <a:off x="457200" y="1051560"/>
            <a:ext cx="4023360" cy="1594714"/>
          </a:xfrm>
          <a:prstGeom prst="rect">
            <a:avLst/>
          </a:prstGeom>
        </p:spPr>
      </p:pic>
      <p:sp>
        <p:nvSpPr>
          <p:cNvPr id="4" name="Text 1"/>
          <p:cNvSpPr txBox="1"/>
          <p:nvPr/>
        </p:nvSpPr>
        <p:spPr>
          <a:xfrm>
            <a:off x="457200" y="2697480"/>
            <a:ext cx="4023360" cy="256032"/>
          </a:xfrm>
          <a:prstGeom prst="rect">
            <a:avLst/>
          </a:prstGeom>
          <a:noFill/>
          <a:ln/>
        </p:spPr>
        <p:txBody>
          <a:bodyPr wrap="square" lIns="0" tIns="0" rIns="0" bIns="0" rtlCol="0" anchor="ctr"/>
          <a:lstStyle/>
          <a:p>
            <a:pPr marL="0" indent="0">
              <a:buNone/>
            </a:pPr>
            <a:r>
              <a:rPr lang="en-US" sz="1100" i="1" dirty="0">
                <a:solidFill>
                  <a:schemeClr val="tx2"/>
                </a:solidFill>
              </a:rPr>
              <a:t>Test photo: 1027 × 407 px, 5 lines, 20 words, blue ink on ruled paper</a:t>
            </a:r>
            <a:endParaRPr lang="en-US" sz="1100" dirty="0"/>
          </a:p>
        </p:txBody>
      </p:sp>
      <p:sp>
        <p:nvSpPr>
          <p:cNvPr id="5" name="Text 2"/>
          <p:cNvSpPr txBox="1"/>
          <p:nvPr/>
        </p:nvSpPr>
        <p:spPr>
          <a:xfrm>
            <a:off x="457200" y="3063240"/>
            <a:ext cx="4023360" cy="274320"/>
          </a:xfrm>
          <a:prstGeom prst="rect">
            <a:avLst/>
          </a:prstGeom>
          <a:noFill/>
          <a:ln/>
        </p:spPr>
        <p:txBody>
          <a:bodyPr wrap="square" lIns="0" tIns="0" rIns="0" bIns="0" rtlCol="0" anchor="ctr"/>
          <a:lstStyle/>
          <a:p>
            <a:pPr marL="0" indent="0">
              <a:buNone/>
            </a:pPr>
            <a:r>
              <a:rPr lang="en-US" sz="1400" b="1" dirty="0">
                <a:solidFill>
                  <a:schemeClr val="tx1"/>
                </a:solidFill>
              </a:rPr>
              <a:t>Objectives</a:t>
            </a:r>
            <a:endParaRPr lang="en-US" sz="1400" dirty="0"/>
          </a:p>
        </p:txBody>
      </p:sp>
      <p:sp>
        <p:nvSpPr>
          <p:cNvPr id="6" name="Text 3"/>
          <p:cNvSpPr txBox="1"/>
          <p:nvPr/>
        </p:nvSpPr>
        <p:spPr>
          <a:xfrm>
            <a:off x="457200" y="3364992"/>
            <a:ext cx="4023360" cy="132588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chemeClr val="tx1"/>
                </a:solidFill>
              </a:rPr>
              <a:t>Detect and flatten the page; remove rotation</a:t>
            </a:r>
            <a:endParaRPr lang="en-US" sz="1200" dirty="0"/>
          </a:p>
          <a:p>
            <a:pPr marL="342900" indent="-342900">
              <a:spcAft>
                <a:spcPts val="200"/>
              </a:spcAft>
              <a:buSzPct val="100000"/>
              <a:buChar char="•"/>
            </a:pPr>
            <a:r>
              <a:rPr lang="en-US" sz="1200" dirty="0">
                <a:solidFill>
                  <a:schemeClr val="tx1"/>
                </a:solidFill>
              </a:rPr>
              <a:t>Normalise contrast and lighting for handwriting</a:t>
            </a:r>
            <a:endParaRPr lang="en-US" sz="1200" dirty="0"/>
          </a:p>
          <a:p>
            <a:pPr marL="342900" indent="-342900">
              <a:spcAft>
                <a:spcPts val="200"/>
              </a:spcAft>
              <a:buSzPct val="100000"/>
              <a:buChar char="•"/>
            </a:pPr>
            <a:r>
              <a:rPr lang="en-US" sz="1200" dirty="0">
                <a:solidFill>
                  <a:schemeClr val="tx1"/>
                </a:solidFill>
              </a:rPr>
              <a:t>Recognise text and choose the best of several readings</a:t>
            </a:r>
            <a:endParaRPr lang="en-US" sz="1200" dirty="0"/>
          </a:p>
          <a:p>
            <a:pPr marL="342900" indent="-342900">
              <a:spcAft>
                <a:spcPts val="200"/>
              </a:spcAft>
              <a:buSzPct val="100000"/>
              <a:buChar char="•"/>
            </a:pPr>
            <a:r>
              <a:rPr lang="en-US" sz="1200" dirty="0">
                <a:solidFill>
                  <a:schemeClr val="tx1"/>
                </a:solidFill>
              </a:rPr>
              <a:t>Optional word correction and summary</a:t>
            </a:r>
            <a:endParaRPr lang="en-US" sz="1200" dirty="0"/>
          </a:p>
          <a:p>
            <a:pPr marL="342900" indent="-342900">
              <a:spcAft>
                <a:spcPts val="200"/>
              </a:spcAft>
              <a:buSzPct val="100000"/>
              <a:buChar char="•"/>
            </a:pPr>
            <a:r>
              <a:rPr lang="en-US" sz="1200" dirty="0">
                <a:solidFill>
                  <a:schemeClr val="tx1"/>
                </a:solidFill>
              </a:rPr>
              <a:t>Measure accuracy with CER and WER</a:t>
            </a:r>
            <a:endParaRPr lang="en-US" sz="1200" dirty="0"/>
          </a:p>
        </p:txBody>
      </p:sp>
      <p:sp>
        <p:nvSpPr>
          <p:cNvPr id="7" name="prob-icon-0"/>
          <p:cNvSpPr/>
          <p:nvPr/>
        </p:nvSpPr>
        <p:spPr>
          <a:xfrm>
            <a:off x="4892040" y="1051560"/>
            <a:ext cx="457200" cy="457200"/>
          </a:xfrm>
          <a:prstGeom prst="ellipse">
            <a:avLst/>
          </a:prstGeom>
          <a:solidFill>
            <a:schemeClr val="accent1"/>
          </a:solidFill>
          <a:ln/>
        </p:spPr>
      </p:sp>
      <p:pic>
        <p:nvPicPr>
          <p:cNvPr id="8" name="prob-glyph-0" descr="Geometric icon"/>
          <p:cNvPicPr>
            <a:picLocks noChangeAspect="1"/>
          </p:cNvPicPr>
          <p:nvPr/>
        </p:nvPicPr>
        <p:blipFill>
          <a:blip r:embed="rId4"/>
          <a:stretch>
            <a:fillRect/>
          </a:stretch>
        </p:blipFill>
        <p:spPr>
          <a:xfrm>
            <a:off x="4992624" y="1152144"/>
            <a:ext cx="256032" cy="256032"/>
          </a:xfrm>
          <a:prstGeom prst="rect">
            <a:avLst/>
          </a:prstGeom>
        </p:spPr>
      </p:pic>
      <p:sp>
        <p:nvSpPr>
          <p:cNvPr id="9" name="Text 5"/>
          <p:cNvSpPr txBox="1"/>
          <p:nvPr/>
        </p:nvSpPr>
        <p:spPr>
          <a:xfrm>
            <a:off x="5532120" y="1024128"/>
            <a:ext cx="3154680" cy="822960"/>
          </a:xfrm>
          <a:prstGeom prst="rect">
            <a:avLst/>
          </a:prstGeom>
          <a:noFill/>
          <a:ln/>
        </p:spPr>
        <p:txBody>
          <a:bodyPr wrap="square" lIns="0" tIns="0" rIns="0" bIns="0" rtlCol="0" anchor="t"/>
          <a:lstStyle/>
          <a:p>
            <a:pPr marL="0" indent="0">
              <a:buNone/>
            </a:pPr>
            <a:r>
              <a:rPr lang="en-US" sz="1400" b="1" dirty="0">
                <a:solidFill>
                  <a:schemeClr val="tx1"/>
                </a:solidFill>
              </a:rPr>
              <a:t>Geometric</a:t>
            </a:r>
            <a:endParaRPr lang="en-US" sz="1400" dirty="0"/>
          </a:p>
          <a:p>
            <a:pPr marL="0" indent="0">
              <a:buNone/>
            </a:pPr>
            <a:r>
              <a:rPr lang="en-US" sz="1200" dirty="0">
                <a:solidFill>
                  <a:schemeClr val="tx2"/>
                </a:solidFill>
              </a:rPr>
              <a:t>Camera not parallel to the page: perspective distortion and tilted lines</a:t>
            </a:r>
            <a:endParaRPr lang="en-US" sz="1400" dirty="0"/>
          </a:p>
        </p:txBody>
      </p:sp>
      <p:sp>
        <p:nvSpPr>
          <p:cNvPr id="10" name="prob-icon-1"/>
          <p:cNvSpPr/>
          <p:nvPr/>
        </p:nvSpPr>
        <p:spPr>
          <a:xfrm>
            <a:off x="4892040" y="1938528"/>
            <a:ext cx="457200" cy="457200"/>
          </a:xfrm>
          <a:prstGeom prst="ellipse">
            <a:avLst/>
          </a:prstGeom>
          <a:solidFill>
            <a:schemeClr val="accent1"/>
          </a:solidFill>
          <a:ln/>
        </p:spPr>
      </p:sp>
      <p:pic>
        <p:nvPicPr>
          <p:cNvPr id="11" name="prob-glyph-1" descr="Photometric icon"/>
          <p:cNvPicPr>
            <a:picLocks noChangeAspect="1"/>
          </p:cNvPicPr>
          <p:nvPr/>
        </p:nvPicPr>
        <p:blipFill>
          <a:blip r:embed="rId5"/>
          <a:stretch>
            <a:fillRect/>
          </a:stretch>
        </p:blipFill>
        <p:spPr>
          <a:xfrm>
            <a:off x="4992624" y="2039112"/>
            <a:ext cx="256032" cy="256032"/>
          </a:xfrm>
          <a:prstGeom prst="rect">
            <a:avLst/>
          </a:prstGeom>
        </p:spPr>
      </p:pic>
      <p:sp>
        <p:nvSpPr>
          <p:cNvPr id="12" name="Text 7"/>
          <p:cNvSpPr txBox="1"/>
          <p:nvPr/>
        </p:nvSpPr>
        <p:spPr>
          <a:xfrm>
            <a:off x="5532120" y="1911096"/>
            <a:ext cx="3154680" cy="822960"/>
          </a:xfrm>
          <a:prstGeom prst="rect">
            <a:avLst/>
          </a:prstGeom>
          <a:noFill/>
          <a:ln/>
        </p:spPr>
        <p:txBody>
          <a:bodyPr wrap="square" lIns="0" tIns="0" rIns="0" bIns="0" rtlCol="0" anchor="t"/>
          <a:lstStyle/>
          <a:p>
            <a:pPr marL="0" indent="0">
              <a:buNone/>
            </a:pPr>
            <a:r>
              <a:rPr lang="en-US" sz="1400" b="1" dirty="0">
                <a:solidFill>
                  <a:schemeClr val="tx1"/>
                </a:solidFill>
              </a:rPr>
              <a:t>Photometric</a:t>
            </a:r>
            <a:endParaRPr lang="en-US" sz="1400" dirty="0"/>
          </a:p>
          <a:p>
            <a:pPr marL="0" indent="0">
              <a:buNone/>
            </a:pPr>
            <a:r>
              <a:rPr lang="en-US" sz="1200" dirty="0">
                <a:solidFill>
                  <a:schemeClr val="tx2"/>
                </a:solidFill>
              </a:rPr>
              <a:t>Shadows, uneven illumination, low-contrast blue ink</a:t>
            </a:r>
            <a:endParaRPr lang="en-US" sz="1400" dirty="0"/>
          </a:p>
        </p:txBody>
      </p:sp>
      <p:sp>
        <p:nvSpPr>
          <p:cNvPr id="13" name="prob-icon-2"/>
          <p:cNvSpPr/>
          <p:nvPr/>
        </p:nvSpPr>
        <p:spPr>
          <a:xfrm>
            <a:off x="4892040" y="2825496"/>
            <a:ext cx="457200" cy="457200"/>
          </a:xfrm>
          <a:prstGeom prst="ellipse">
            <a:avLst/>
          </a:prstGeom>
          <a:solidFill>
            <a:schemeClr val="accent1"/>
          </a:solidFill>
          <a:ln/>
        </p:spPr>
      </p:sp>
      <p:pic>
        <p:nvPicPr>
          <p:cNvPr id="14" name="prob-glyph-2" descr="Structural icon"/>
          <p:cNvPicPr>
            <a:picLocks noChangeAspect="1"/>
          </p:cNvPicPr>
          <p:nvPr/>
        </p:nvPicPr>
        <p:blipFill>
          <a:blip r:embed="rId6"/>
          <a:stretch>
            <a:fillRect/>
          </a:stretch>
        </p:blipFill>
        <p:spPr>
          <a:xfrm>
            <a:off x="4992624" y="2926080"/>
            <a:ext cx="256032" cy="256032"/>
          </a:xfrm>
          <a:prstGeom prst="rect">
            <a:avLst/>
          </a:prstGeom>
        </p:spPr>
      </p:pic>
      <p:sp>
        <p:nvSpPr>
          <p:cNvPr id="15" name="Text 9"/>
          <p:cNvSpPr txBox="1"/>
          <p:nvPr/>
        </p:nvSpPr>
        <p:spPr>
          <a:xfrm>
            <a:off x="5532120" y="2798064"/>
            <a:ext cx="3154680" cy="822960"/>
          </a:xfrm>
          <a:prstGeom prst="rect">
            <a:avLst/>
          </a:prstGeom>
          <a:noFill/>
          <a:ln/>
        </p:spPr>
        <p:txBody>
          <a:bodyPr wrap="square" lIns="0" tIns="0" rIns="0" bIns="0" rtlCol="0" anchor="t"/>
          <a:lstStyle/>
          <a:p>
            <a:pPr marL="0" indent="0">
              <a:buNone/>
            </a:pPr>
            <a:r>
              <a:rPr lang="en-US" sz="1400" b="1" dirty="0">
                <a:solidFill>
                  <a:schemeClr val="tx1"/>
                </a:solidFill>
              </a:rPr>
              <a:t>Structural</a:t>
            </a:r>
            <a:endParaRPr lang="en-US" sz="1400" dirty="0"/>
          </a:p>
          <a:p>
            <a:pPr marL="0" indent="0">
              <a:buNone/>
            </a:pPr>
            <a:r>
              <a:rPr lang="en-US" sz="1200" dirty="0">
                <a:solidFill>
                  <a:schemeClr val="tx2"/>
                </a:solidFill>
              </a:rPr>
              <a:t>Ruled and margin lines, header stamps, bleed-through from the reverse side</a:t>
            </a:r>
            <a:endParaRPr lang="en-US" sz="1400" dirty="0"/>
          </a:p>
        </p:txBody>
      </p:sp>
      <p:sp>
        <p:nvSpPr>
          <p:cNvPr id="16" name="prob-icon-3"/>
          <p:cNvSpPr/>
          <p:nvPr/>
        </p:nvSpPr>
        <p:spPr>
          <a:xfrm>
            <a:off x="4892040" y="3712464"/>
            <a:ext cx="457200" cy="457200"/>
          </a:xfrm>
          <a:prstGeom prst="ellipse">
            <a:avLst/>
          </a:prstGeom>
          <a:solidFill>
            <a:schemeClr val="accent1"/>
          </a:solidFill>
          <a:ln/>
        </p:spPr>
      </p:sp>
      <p:pic>
        <p:nvPicPr>
          <p:cNvPr id="17" name="prob-glyph-3" descr="Recognition icon"/>
          <p:cNvPicPr>
            <a:picLocks noChangeAspect="1"/>
          </p:cNvPicPr>
          <p:nvPr/>
        </p:nvPicPr>
        <p:blipFill>
          <a:blip r:embed="rId7"/>
          <a:stretch>
            <a:fillRect/>
          </a:stretch>
        </p:blipFill>
        <p:spPr>
          <a:xfrm>
            <a:off x="4992624" y="3813048"/>
            <a:ext cx="256032" cy="256032"/>
          </a:xfrm>
          <a:prstGeom prst="rect">
            <a:avLst/>
          </a:prstGeom>
        </p:spPr>
      </p:pic>
      <p:sp>
        <p:nvSpPr>
          <p:cNvPr id="18" name="Text 11"/>
          <p:cNvSpPr txBox="1"/>
          <p:nvPr/>
        </p:nvSpPr>
        <p:spPr>
          <a:xfrm>
            <a:off x="5532120" y="3685032"/>
            <a:ext cx="3154680" cy="822960"/>
          </a:xfrm>
          <a:prstGeom prst="rect">
            <a:avLst/>
          </a:prstGeom>
          <a:noFill/>
          <a:ln/>
        </p:spPr>
        <p:txBody>
          <a:bodyPr wrap="square" lIns="0" tIns="0" rIns="0" bIns="0" rtlCol="0" anchor="t"/>
          <a:lstStyle/>
          <a:p>
            <a:pPr marL="0" indent="0">
              <a:buNone/>
            </a:pPr>
            <a:r>
              <a:rPr lang="en-US" sz="1400" b="1" dirty="0">
                <a:solidFill>
                  <a:schemeClr val="tx1"/>
                </a:solidFill>
              </a:rPr>
              <a:t>Recognition</a:t>
            </a:r>
            <a:endParaRPr lang="en-US" sz="1400" dirty="0"/>
          </a:p>
          <a:p>
            <a:pPr marL="0" indent="0">
              <a:buNone/>
            </a:pPr>
            <a:r>
              <a:rPr lang="en-US" sz="1200" dirty="0">
                <a:solidFill>
                  <a:schemeClr val="tx2"/>
                </a:solidFill>
              </a:rPr>
              <a:t>Joined, writer-specific handwriting; Tesseract is trained mostly on print</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System overview</a:t>
            </a:r>
            <a:endParaRPr lang="en-US" sz="2800" dirty="0"/>
          </a:p>
        </p:txBody>
      </p:sp>
      <p:sp>
        <p:nvSpPr>
          <p:cNvPr id="3" name="stage-card-1"/>
          <p:cNvSpPr/>
          <p:nvPr/>
        </p:nvSpPr>
        <p:spPr>
          <a:xfrm>
            <a:off x="457200" y="1051560"/>
            <a:ext cx="2560320" cy="896112"/>
          </a:xfrm>
          <a:prstGeom prst="roundRect">
            <a:avLst>
              <a:gd name="adj" fmla="val 8163"/>
            </a:avLst>
          </a:prstGeom>
          <a:solidFill>
            <a:schemeClr val="bg2"/>
          </a:solidFill>
          <a:ln/>
        </p:spPr>
      </p:sp>
      <p:sp>
        <p:nvSpPr>
          <p:cNvPr id="4" name="stage-dot-1"/>
          <p:cNvSpPr/>
          <p:nvPr/>
        </p:nvSpPr>
        <p:spPr>
          <a:xfrm>
            <a:off x="603504" y="1298448"/>
            <a:ext cx="402336" cy="402336"/>
          </a:xfrm>
          <a:prstGeom prst="ellipse">
            <a:avLst/>
          </a:prstGeom>
          <a:solidFill>
            <a:schemeClr val="accent1"/>
          </a:solidFill>
          <a:ln/>
        </p:spPr>
      </p:sp>
      <p:sp>
        <p:nvSpPr>
          <p:cNvPr id="5" name="Text 3"/>
          <p:cNvSpPr txBox="1"/>
          <p:nvPr/>
        </p:nvSpPr>
        <p:spPr>
          <a:xfrm>
            <a:off x="603504" y="1298448"/>
            <a:ext cx="402336" cy="402336"/>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6" name="Text 4"/>
          <p:cNvSpPr txBox="1"/>
          <p:nvPr/>
        </p:nvSpPr>
        <p:spPr>
          <a:xfrm>
            <a:off x="1143000" y="1161288"/>
            <a:ext cx="1783080" cy="731520"/>
          </a:xfrm>
          <a:prstGeom prst="rect">
            <a:avLst/>
          </a:prstGeom>
          <a:noFill/>
          <a:ln/>
        </p:spPr>
        <p:txBody>
          <a:bodyPr wrap="square" lIns="0" tIns="0" rIns="0" bIns="0" rtlCol="0" anchor="t"/>
          <a:lstStyle/>
          <a:p>
            <a:pPr marL="0" indent="0">
              <a:buNone/>
            </a:pPr>
            <a:r>
              <a:rPr lang="en-US" sz="1400" b="1" dirty="0">
                <a:solidFill>
                  <a:schemeClr val="tx1"/>
                </a:solidFill>
              </a:rPr>
              <a:t>Page detection</a:t>
            </a:r>
            <a:endParaRPr lang="en-US" sz="1400" dirty="0"/>
          </a:p>
          <a:p>
            <a:pPr marL="0" indent="0">
              <a:buNone/>
            </a:pPr>
            <a:r>
              <a:rPr lang="en-US" sz="1100" dirty="0">
                <a:solidFill>
                  <a:schemeClr val="tx2"/>
                </a:solidFill>
              </a:rPr>
              <a:t>Canny ×4, contours, contrast test</a:t>
            </a:r>
            <a:endParaRPr lang="en-US" sz="1400" dirty="0"/>
          </a:p>
        </p:txBody>
      </p:sp>
      <p:sp>
        <p:nvSpPr>
          <p:cNvPr id="7" name="stage-card-2"/>
          <p:cNvSpPr/>
          <p:nvPr/>
        </p:nvSpPr>
        <p:spPr>
          <a:xfrm>
            <a:off x="3291840" y="1051560"/>
            <a:ext cx="2560320" cy="896112"/>
          </a:xfrm>
          <a:prstGeom prst="roundRect">
            <a:avLst>
              <a:gd name="adj" fmla="val 8163"/>
            </a:avLst>
          </a:prstGeom>
          <a:solidFill>
            <a:schemeClr val="bg2"/>
          </a:solidFill>
          <a:ln/>
        </p:spPr>
      </p:sp>
      <p:sp>
        <p:nvSpPr>
          <p:cNvPr id="8" name="stage-dot-2"/>
          <p:cNvSpPr/>
          <p:nvPr/>
        </p:nvSpPr>
        <p:spPr>
          <a:xfrm>
            <a:off x="3438144" y="1298448"/>
            <a:ext cx="402336" cy="402336"/>
          </a:xfrm>
          <a:prstGeom prst="ellipse">
            <a:avLst/>
          </a:prstGeom>
          <a:solidFill>
            <a:schemeClr val="accent1"/>
          </a:solidFill>
          <a:ln/>
        </p:spPr>
      </p:sp>
      <p:sp>
        <p:nvSpPr>
          <p:cNvPr id="9" name="Text 7"/>
          <p:cNvSpPr txBox="1"/>
          <p:nvPr/>
        </p:nvSpPr>
        <p:spPr>
          <a:xfrm>
            <a:off x="3438144" y="1298448"/>
            <a:ext cx="402336" cy="402336"/>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0" name="Text 8"/>
          <p:cNvSpPr txBox="1"/>
          <p:nvPr/>
        </p:nvSpPr>
        <p:spPr>
          <a:xfrm>
            <a:off x="3977640" y="1161288"/>
            <a:ext cx="1783080" cy="731520"/>
          </a:xfrm>
          <a:prstGeom prst="rect">
            <a:avLst/>
          </a:prstGeom>
          <a:noFill/>
          <a:ln/>
        </p:spPr>
        <p:txBody>
          <a:bodyPr wrap="square" lIns="0" tIns="0" rIns="0" bIns="0" rtlCol="0" anchor="t"/>
          <a:lstStyle/>
          <a:p>
            <a:pPr marL="0" indent="0">
              <a:buNone/>
            </a:pPr>
            <a:r>
              <a:rPr lang="en-US" sz="1400" b="1" dirty="0">
                <a:solidFill>
                  <a:schemeClr val="tx1"/>
                </a:solidFill>
              </a:rPr>
              <a:t>Perspective correction</a:t>
            </a:r>
            <a:endParaRPr lang="en-US" sz="1400" dirty="0"/>
          </a:p>
          <a:p>
            <a:pPr marL="0" indent="0">
              <a:buNone/>
            </a:pPr>
            <a:r>
              <a:rPr lang="en-US" sz="1100" dirty="0">
                <a:solidFill>
                  <a:schemeClr val="tx2"/>
                </a:solidFill>
              </a:rPr>
              <a:t>Corner ordering, 3×3 homography</a:t>
            </a:r>
            <a:endParaRPr lang="en-US" sz="1400" dirty="0"/>
          </a:p>
        </p:txBody>
      </p:sp>
      <p:sp>
        <p:nvSpPr>
          <p:cNvPr id="11" name="stage-card-3"/>
          <p:cNvSpPr/>
          <p:nvPr/>
        </p:nvSpPr>
        <p:spPr>
          <a:xfrm>
            <a:off x="6126480" y="1051560"/>
            <a:ext cx="2560320" cy="896112"/>
          </a:xfrm>
          <a:prstGeom prst="roundRect">
            <a:avLst>
              <a:gd name="adj" fmla="val 8163"/>
            </a:avLst>
          </a:prstGeom>
          <a:solidFill>
            <a:schemeClr val="bg2"/>
          </a:solidFill>
          <a:ln/>
        </p:spPr>
      </p:sp>
      <p:sp>
        <p:nvSpPr>
          <p:cNvPr id="12" name="stage-dot-3"/>
          <p:cNvSpPr/>
          <p:nvPr/>
        </p:nvSpPr>
        <p:spPr>
          <a:xfrm>
            <a:off x="6272784" y="1298448"/>
            <a:ext cx="402336" cy="402336"/>
          </a:xfrm>
          <a:prstGeom prst="ellipse">
            <a:avLst/>
          </a:prstGeom>
          <a:solidFill>
            <a:schemeClr val="accent1"/>
          </a:solidFill>
          <a:ln/>
        </p:spPr>
      </p:sp>
      <p:sp>
        <p:nvSpPr>
          <p:cNvPr id="13" name="Text 11"/>
          <p:cNvSpPr txBox="1"/>
          <p:nvPr/>
        </p:nvSpPr>
        <p:spPr>
          <a:xfrm>
            <a:off x="6272784" y="1298448"/>
            <a:ext cx="402336" cy="402336"/>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4" name="Text 12"/>
          <p:cNvSpPr txBox="1"/>
          <p:nvPr/>
        </p:nvSpPr>
        <p:spPr>
          <a:xfrm>
            <a:off x="6812280" y="1161288"/>
            <a:ext cx="1783080" cy="731520"/>
          </a:xfrm>
          <a:prstGeom prst="rect">
            <a:avLst/>
          </a:prstGeom>
          <a:noFill/>
          <a:ln/>
        </p:spPr>
        <p:txBody>
          <a:bodyPr wrap="square" lIns="0" tIns="0" rIns="0" bIns="0" rtlCol="0" anchor="t"/>
          <a:lstStyle/>
          <a:p>
            <a:pPr marL="0" indent="0">
              <a:buNone/>
            </a:pPr>
            <a:r>
              <a:rPr lang="en-US" sz="1400" b="1" dirty="0">
                <a:solidFill>
                  <a:schemeClr val="tx1"/>
                </a:solidFill>
              </a:rPr>
              <a:t>Deskew</a:t>
            </a:r>
            <a:endParaRPr lang="en-US" sz="1400" dirty="0"/>
          </a:p>
          <a:p>
            <a:pPr marL="0" indent="0">
              <a:buNone/>
            </a:pPr>
            <a:r>
              <a:rPr lang="en-US" sz="1100" dirty="0">
                <a:solidFill>
                  <a:schemeClr val="tx2"/>
                </a:solidFill>
              </a:rPr>
              <a:t>Hough lines, median angle</a:t>
            </a:r>
            <a:endParaRPr lang="en-US" sz="1400" dirty="0"/>
          </a:p>
        </p:txBody>
      </p:sp>
      <p:sp>
        <p:nvSpPr>
          <p:cNvPr id="15" name="stage-card-4"/>
          <p:cNvSpPr/>
          <p:nvPr/>
        </p:nvSpPr>
        <p:spPr>
          <a:xfrm>
            <a:off x="457200" y="2103120"/>
            <a:ext cx="2560320" cy="896112"/>
          </a:xfrm>
          <a:prstGeom prst="roundRect">
            <a:avLst>
              <a:gd name="adj" fmla="val 8163"/>
            </a:avLst>
          </a:prstGeom>
          <a:solidFill>
            <a:schemeClr val="bg2"/>
          </a:solidFill>
          <a:ln/>
        </p:spPr>
      </p:sp>
      <p:sp>
        <p:nvSpPr>
          <p:cNvPr id="16" name="stage-dot-4"/>
          <p:cNvSpPr/>
          <p:nvPr/>
        </p:nvSpPr>
        <p:spPr>
          <a:xfrm>
            <a:off x="603504" y="2350008"/>
            <a:ext cx="402336" cy="402336"/>
          </a:xfrm>
          <a:prstGeom prst="ellipse">
            <a:avLst/>
          </a:prstGeom>
          <a:solidFill>
            <a:schemeClr val="accent2"/>
          </a:solidFill>
          <a:ln/>
        </p:spPr>
      </p:sp>
      <p:sp>
        <p:nvSpPr>
          <p:cNvPr id="17" name="Text 15"/>
          <p:cNvSpPr txBox="1"/>
          <p:nvPr/>
        </p:nvSpPr>
        <p:spPr>
          <a:xfrm>
            <a:off x="603504" y="2350008"/>
            <a:ext cx="402336" cy="402336"/>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18" name="Text 16"/>
          <p:cNvSpPr txBox="1"/>
          <p:nvPr/>
        </p:nvSpPr>
        <p:spPr>
          <a:xfrm>
            <a:off x="1143000" y="2212848"/>
            <a:ext cx="1783080" cy="731520"/>
          </a:xfrm>
          <a:prstGeom prst="rect">
            <a:avLst/>
          </a:prstGeom>
          <a:noFill/>
          <a:ln/>
        </p:spPr>
        <p:txBody>
          <a:bodyPr wrap="square" lIns="0" tIns="0" rIns="0" bIns="0" rtlCol="0" anchor="t"/>
          <a:lstStyle/>
          <a:p>
            <a:pPr marL="0" indent="0">
              <a:buNone/>
            </a:pPr>
            <a:r>
              <a:rPr lang="en-US" sz="1400" b="1" dirty="0">
                <a:solidFill>
                  <a:schemeClr val="tx1"/>
                </a:solidFill>
              </a:rPr>
              <a:t>Enhancement</a:t>
            </a:r>
            <a:endParaRPr lang="en-US" sz="1400" dirty="0"/>
          </a:p>
          <a:p>
            <a:pPr marL="0" indent="0">
              <a:buNone/>
            </a:pPr>
            <a:r>
              <a:rPr lang="en-US" sz="1100" dirty="0">
                <a:solidFill>
                  <a:schemeClr val="tx2"/>
                </a:solidFill>
              </a:rPr>
              <a:t>2× upscale, CLAHE on L*, background division</a:t>
            </a:r>
            <a:endParaRPr lang="en-US" sz="1400" dirty="0"/>
          </a:p>
        </p:txBody>
      </p:sp>
      <p:sp>
        <p:nvSpPr>
          <p:cNvPr id="19" name="stage-card-5"/>
          <p:cNvSpPr/>
          <p:nvPr/>
        </p:nvSpPr>
        <p:spPr>
          <a:xfrm>
            <a:off x="3291840" y="2103120"/>
            <a:ext cx="2560320" cy="896112"/>
          </a:xfrm>
          <a:prstGeom prst="roundRect">
            <a:avLst>
              <a:gd name="adj" fmla="val 8163"/>
            </a:avLst>
          </a:prstGeom>
          <a:solidFill>
            <a:schemeClr val="bg2"/>
          </a:solidFill>
          <a:ln/>
        </p:spPr>
      </p:sp>
      <p:sp>
        <p:nvSpPr>
          <p:cNvPr id="20" name="stage-dot-5"/>
          <p:cNvSpPr/>
          <p:nvPr/>
        </p:nvSpPr>
        <p:spPr>
          <a:xfrm>
            <a:off x="3438144" y="2350008"/>
            <a:ext cx="402336" cy="402336"/>
          </a:xfrm>
          <a:prstGeom prst="ellipse">
            <a:avLst/>
          </a:prstGeom>
          <a:solidFill>
            <a:schemeClr val="accent2"/>
          </a:solidFill>
          <a:ln/>
        </p:spPr>
      </p:sp>
      <p:sp>
        <p:nvSpPr>
          <p:cNvPr id="21" name="Text 19"/>
          <p:cNvSpPr txBox="1"/>
          <p:nvPr/>
        </p:nvSpPr>
        <p:spPr>
          <a:xfrm>
            <a:off x="3438144" y="2350008"/>
            <a:ext cx="402336" cy="402336"/>
          </a:xfrm>
          <a:prstGeom prst="rect">
            <a:avLst/>
          </a:prstGeom>
          <a:no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22" name="Text 20"/>
          <p:cNvSpPr txBox="1"/>
          <p:nvPr/>
        </p:nvSpPr>
        <p:spPr>
          <a:xfrm>
            <a:off x="3977640" y="2212848"/>
            <a:ext cx="1783080" cy="731520"/>
          </a:xfrm>
          <a:prstGeom prst="rect">
            <a:avLst/>
          </a:prstGeom>
          <a:noFill/>
          <a:ln/>
        </p:spPr>
        <p:txBody>
          <a:bodyPr wrap="square" lIns="0" tIns="0" rIns="0" bIns="0" rtlCol="0" anchor="t"/>
          <a:lstStyle/>
          <a:p>
            <a:pPr marL="0" indent="0">
              <a:buNone/>
            </a:pPr>
            <a:r>
              <a:rPr lang="en-US" sz="1400" b="1" dirty="0">
                <a:solidFill>
                  <a:schemeClr val="tx1"/>
                </a:solidFill>
              </a:rPr>
              <a:t>Ruled-line suppression</a:t>
            </a:r>
            <a:endParaRPr lang="en-US" sz="1400" dirty="0"/>
          </a:p>
          <a:p>
            <a:pPr marL="0" indent="0">
              <a:buNone/>
            </a:pPr>
            <a:r>
              <a:rPr lang="en-US" sz="1100" dirty="0">
                <a:solidFill>
                  <a:schemeClr val="tx2"/>
                </a:solidFill>
              </a:rPr>
              <a:t>Horizontal opening (optional)</a:t>
            </a:r>
            <a:endParaRPr lang="en-US" sz="1400" dirty="0"/>
          </a:p>
        </p:txBody>
      </p:sp>
      <p:sp>
        <p:nvSpPr>
          <p:cNvPr id="23" name="stage-card-6"/>
          <p:cNvSpPr/>
          <p:nvPr/>
        </p:nvSpPr>
        <p:spPr>
          <a:xfrm>
            <a:off x="6126480" y="2103120"/>
            <a:ext cx="2560320" cy="896112"/>
          </a:xfrm>
          <a:prstGeom prst="roundRect">
            <a:avLst>
              <a:gd name="adj" fmla="val 8163"/>
            </a:avLst>
          </a:prstGeom>
          <a:solidFill>
            <a:schemeClr val="bg2"/>
          </a:solidFill>
          <a:ln/>
        </p:spPr>
      </p:sp>
      <p:sp>
        <p:nvSpPr>
          <p:cNvPr id="24" name="stage-dot-6"/>
          <p:cNvSpPr/>
          <p:nvPr/>
        </p:nvSpPr>
        <p:spPr>
          <a:xfrm>
            <a:off x="6272784" y="2350008"/>
            <a:ext cx="402336" cy="402336"/>
          </a:xfrm>
          <a:prstGeom prst="ellipse">
            <a:avLst/>
          </a:prstGeom>
          <a:solidFill>
            <a:schemeClr val="accent2"/>
          </a:solidFill>
          <a:ln/>
        </p:spPr>
      </p:sp>
      <p:sp>
        <p:nvSpPr>
          <p:cNvPr id="25" name="Text 23"/>
          <p:cNvSpPr txBox="1"/>
          <p:nvPr/>
        </p:nvSpPr>
        <p:spPr>
          <a:xfrm>
            <a:off x="6272784" y="2350008"/>
            <a:ext cx="402336" cy="402336"/>
          </a:xfrm>
          <a:prstGeom prst="rect">
            <a:avLst/>
          </a:prstGeom>
          <a:noFill/>
          <a:ln/>
        </p:spPr>
        <p:txBody>
          <a:bodyPr wrap="square" lIns="0" tIns="0" rIns="0" bIns="0" rtlCol="0" anchor="ctr"/>
          <a:lstStyle/>
          <a:p>
            <a:pPr marL="0" indent="0" algn="ctr">
              <a:buNone/>
            </a:pPr>
            <a:r>
              <a:rPr lang="en-US" sz="1200" b="1" dirty="0">
                <a:solidFill>
                  <a:schemeClr val="bg1"/>
                </a:solidFill>
              </a:rPr>
              <a:t>6</a:t>
            </a:r>
            <a:endParaRPr lang="en-US" sz="1200" dirty="0"/>
          </a:p>
        </p:txBody>
      </p:sp>
      <p:sp>
        <p:nvSpPr>
          <p:cNvPr id="26" name="Text 24"/>
          <p:cNvSpPr txBox="1"/>
          <p:nvPr/>
        </p:nvSpPr>
        <p:spPr>
          <a:xfrm>
            <a:off x="6812280" y="2212848"/>
            <a:ext cx="1783080" cy="731520"/>
          </a:xfrm>
          <a:prstGeom prst="rect">
            <a:avLst/>
          </a:prstGeom>
          <a:noFill/>
          <a:ln/>
        </p:spPr>
        <p:txBody>
          <a:bodyPr wrap="square" lIns="0" tIns="0" rIns="0" bIns="0" rtlCol="0" anchor="t"/>
          <a:lstStyle/>
          <a:p>
            <a:pPr marL="0" indent="0">
              <a:buNone/>
            </a:pPr>
            <a:r>
              <a:rPr lang="en-US" sz="1400" b="1" dirty="0">
                <a:solidFill>
                  <a:schemeClr val="tx1"/>
                </a:solidFill>
              </a:rPr>
              <a:t>Binarisation</a:t>
            </a:r>
            <a:endParaRPr lang="en-US" sz="1400" dirty="0"/>
          </a:p>
          <a:p>
            <a:pPr marL="0" indent="0">
              <a:buNone/>
            </a:pPr>
            <a:r>
              <a:rPr lang="en-US" sz="1100" dirty="0">
                <a:solidFill>
                  <a:schemeClr val="tx2"/>
                </a:solidFill>
              </a:rPr>
              <a:t>Sauvola, adaptive Gaussian, closing</a:t>
            </a:r>
            <a:endParaRPr lang="en-US" sz="1400" dirty="0"/>
          </a:p>
        </p:txBody>
      </p:sp>
      <p:sp>
        <p:nvSpPr>
          <p:cNvPr id="27" name="stage-card-7"/>
          <p:cNvSpPr/>
          <p:nvPr/>
        </p:nvSpPr>
        <p:spPr>
          <a:xfrm>
            <a:off x="457200" y="3154680"/>
            <a:ext cx="2560320" cy="896112"/>
          </a:xfrm>
          <a:prstGeom prst="roundRect">
            <a:avLst>
              <a:gd name="adj" fmla="val 8163"/>
            </a:avLst>
          </a:prstGeom>
          <a:solidFill>
            <a:schemeClr val="bg2"/>
          </a:solidFill>
          <a:ln/>
        </p:spPr>
      </p:sp>
      <p:sp>
        <p:nvSpPr>
          <p:cNvPr id="28" name="stage-dot-7"/>
          <p:cNvSpPr/>
          <p:nvPr/>
        </p:nvSpPr>
        <p:spPr>
          <a:xfrm>
            <a:off x="603504" y="3401568"/>
            <a:ext cx="402336" cy="402336"/>
          </a:xfrm>
          <a:prstGeom prst="ellipse">
            <a:avLst/>
          </a:prstGeom>
          <a:solidFill>
            <a:schemeClr val="accent5"/>
          </a:solidFill>
          <a:ln/>
        </p:spPr>
      </p:sp>
      <p:sp>
        <p:nvSpPr>
          <p:cNvPr id="29" name="Text 27"/>
          <p:cNvSpPr txBox="1"/>
          <p:nvPr/>
        </p:nvSpPr>
        <p:spPr>
          <a:xfrm>
            <a:off x="603504" y="3401568"/>
            <a:ext cx="402336" cy="402336"/>
          </a:xfrm>
          <a:prstGeom prst="rect">
            <a:avLst/>
          </a:prstGeom>
          <a:noFill/>
          <a:ln/>
        </p:spPr>
        <p:txBody>
          <a:bodyPr wrap="square" lIns="0" tIns="0" rIns="0" bIns="0" rtlCol="0" anchor="ctr"/>
          <a:lstStyle/>
          <a:p>
            <a:pPr marL="0" indent="0" algn="ctr">
              <a:buNone/>
            </a:pPr>
            <a:r>
              <a:rPr lang="en-US" sz="1200" b="1" dirty="0">
                <a:solidFill>
                  <a:schemeClr val="bg1"/>
                </a:solidFill>
              </a:rPr>
              <a:t>7</a:t>
            </a:r>
            <a:endParaRPr lang="en-US" sz="1200" dirty="0"/>
          </a:p>
        </p:txBody>
      </p:sp>
      <p:sp>
        <p:nvSpPr>
          <p:cNvPr id="30" name="Text 28"/>
          <p:cNvSpPr txBox="1"/>
          <p:nvPr/>
        </p:nvSpPr>
        <p:spPr>
          <a:xfrm>
            <a:off x="1143000" y="3264408"/>
            <a:ext cx="1783080" cy="731520"/>
          </a:xfrm>
          <a:prstGeom prst="rect">
            <a:avLst/>
          </a:prstGeom>
          <a:noFill/>
          <a:ln/>
        </p:spPr>
        <p:txBody>
          <a:bodyPr wrap="square" lIns="0" tIns="0" rIns="0" bIns="0" rtlCol="0" anchor="t"/>
          <a:lstStyle/>
          <a:p>
            <a:pPr marL="0" indent="0">
              <a:buNone/>
            </a:pPr>
            <a:r>
              <a:rPr lang="en-US" sz="1400" b="1" dirty="0">
                <a:solidFill>
                  <a:schemeClr val="tx1"/>
                </a:solidFill>
              </a:rPr>
              <a:t>Recognition</a:t>
            </a:r>
            <a:endParaRPr lang="en-US" sz="1400" dirty="0"/>
          </a:p>
          <a:p>
            <a:pPr marL="0" indent="0">
              <a:buNone/>
            </a:pPr>
            <a:r>
              <a:rPr lang="en-US" sz="1100" dirty="0">
                <a:solidFill>
                  <a:schemeClr val="tx2"/>
                </a:solidFill>
              </a:rPr>
              <a:t>EasyOCR / Tesseract, line grouping, score</a:t>
            </a:r>
            <a:endParaRPr lang="en-US" sz="1400" dirty="0"/>
          </a:p>
        </p:txBody>
      </p:sp>
      <p:sp>
        <p:nvSpPr>
          <p:cNvPr id="31" name="stage-card-8"/>
          <p:cNvSpPr/>
          <p:nvPr/>
        </p:nvSpPr>
        <p:spPr>
          <a:xfrm>
            <a:off x="3291840" y="3154680"/>
            <a:ext cx="2560320" cy="896112"/>
          </a:xfrm>
          <a:prstGeom prst="roundRect">
            <a:avLst>
              <a:gd name="adj" fmla="val 8163"/>
            </a:avLst>
          </a:prstGeom>
          <a:solidFill>
            <a:schemeClr val="bg2"/>
          </a:solidFill>
          <a:ln/>
        </p:spPr>
      </p:sp>
      <p:sp>
        <p:nvSpPr>
          <p:cNvPr id="32" name="stage-dot-8"/>
          <p:cNvSpPr/>
          <p:nvPr/>
        </p:nvSpPr>
        <p:spPr>
          <a:xfrm>
            <a:off x="3438144" y="3401568"/>
            <a:ext cx="402336" cy="402336"/>
          </a:xfrm>
          <a:prstGeom prst="ellipse">
            <a:avLst/>
          </a:prstGeom>
          <a:solidFill>
            <a:schemeClr val="accent3"/>
          </a:solidFill>
          <a:ln/>
        </p:spPr>
      </p:sp>
      <p:sp>
        <p:nvSpPr>
          <p:cNvPr id="33" name="Text 31"/>
          <p:cNvSpPr txBox="1"/>
          <p:nvPr/>
        </p:nvSpPr>
        <p:spPr>
          <a:xfrm>
            <a:off x="3438144" y="3401568"/>
            <a:ext cx="402336" cy="402336"/>
          </a:xfrm>
          <a:prstGeom prst="rect">
            <a:avLst/>
          </a:prstGeom>
          <a:noFill/>
          <a:ln/>
        </p:spPr>
        <p:txBody>
          <a:bodyPr wrap="square" lIns="0" tIns="0" rIns="0" bIns="0" rtlCol="0" anchor="ctr"/>
          <a:lstStyle/>
          <a:p>
            <a:pPr marL="0" indent="0" algn="ctr">
              <a:buNone/>
            </a:pPr>
            <a:r>
              <a:rPr lang="en-US" sz="1200" b="1" dirty="0">
                <a:solidFill>
                  <a:schemeClr val="bg1"/>
                </a:solidFill>
              </a:rPr>
              <a:t>8</a:t>
            </a:r>
            <a:endParaRPr lang="en-US" sz="1200" dirty="0"/>
          </a:p>
        </p:txBody>
      </p:sp>
      <p:sp>
        <p:nvSpPr>
          <p:cNvPr id="34" name="Text 32"/>
          <p:cNvSpPr txBox="1"/>
          <p:nvPr/>
        </p:nvSpPr>
        <p:spPr>
          <a:xfrm>
            <a:off x="3977640" y="3264408"/>
            <a:ext cx="1783080" cy="731520"/>
          </a:xfrm>
          <a:prstGeom prst="rect">
            <a:avLst/>
          </a:prstGeom>
          <a:noFill/>
          <a:ln/>
        </p:spPr>
        <p:txBody>
          <a:bodyPr wrap="square" lIns="0" tIns="0" rIns="0" bIns="0" rtlCol="0" anchor="t"/>
          <a:lstStyle/>
          <a:p>
            <a:pPr marL="0" indent="0">
              <a:buNone/>
            </a:pPr>
            <a:r>
              <a:rPr lang="en-US" sz="1400" b="1" dirty="0">
                <a:solidFill>
                  <a:schemeClr val="tx1"/>
                </a:solidFill>
              </a:rPr>
              <a:t>Post-processing</a:t>
            </a:r>
            <a:endParaRPr lang="en-US" sz="1400" dirty="0"/>
          </a:p>
          <a:p>
            <a:pPr marL="0" indent="0">
              <a:buNone/>
            </a:pPr>
            <a:r>
              <a:rPr lang="en-US" sz="1100" dirty="0">
                <a:solidFill>
                  <a:schemeClr val="tx2"/>
                </a:solidFill>
              </a:rPr>
              <a:t>Clean-up, optional lexicon matching</a:t>
            </a:r>
            <a:endParaRPr lang="en-US" sz="1400" dirty="0"/>
          </a:p>
        </p:txBody>
      </p:sp>
      <p:sp>
        <p:nvSpPr>
          <p:cNvPr id="35" name="stage-card-9"/>
          <p:cNvSpPr/>
          <p:nvPr/>
        </p:nvSpPr>
        <p:spPr>
          <a:xfrm>
            <a:off x="6126480" y="3154680"/>
            <a:ext cx="2560320" cy="896112"/>
          </a:xfrm>
          <a:prstGeom prst="roundRect">
            <a:avLst>
              <a:gd name="adj" fmla="val 8163"/>
            </a:avLst>
          </a:prstGeom>
          <a:solidFill>
            <a:schemeClr val="bg2"/>
          </a:solidFill>
          <a:ln/>
        </p:spPr>
      </p:sp>
      <p:sp>
        <p:nvSpPr>
          <p:cNvPr id="36" name="stage-dot-9"/>
          <p:cNvSpPr/>
          <p:nvPr/>
        </p:nvSpPr>
        <p:spPr>
          <a:xfrm>
            <a:off x="6272784" y="3401568"/>
            <a:ext cx="402336" cy="402336"/>
          </a:xfrm>
          <a:prstGeom prst="ellipse">
            <a:avLst/>
          </a:prstGeom>
          <a:solidFill>
            <a:schemeClr val="accent3"/>
          </a:solidFill>
          <a:ln/>
        </p:spPr>
      </p:sp>
      <p:sp>
        <p:nvSpPr>
          <p:cNvPr id="37" name="Text 35"/>
          <p:cNvSpPr txBox="1"/>
          <p:nvPr/>
        </p:nvSpPr>
        <p:spPr>
          <a:xfrm>
            <a:off x="6272784" y="3401568"/>
            <a:ext cx="402336" cy="402336"/>
          </a:xfrm>
          <a:prstGeom prst="rect">
            <a:avLst/>
          </a:prstGeom>
          <a:noFill/>
          <a:ln/>
        </p:spPr>
        <p:txBody>
          <a:bodyPr wrap="square" lIns="0" tIns="0" rIns="0" bIns="0" rtlCol="0" anchor="ctr"/>
          <a:lstStyle/>
          <a:p>
            <a:pPr marL="0" indent="0" algn="ctr">
              <a:buNone/>
            </a:pPr>
            <a:r>
              <a:rPr lang="en-US" sz="1200" b="1" dirty="0">
                <a:solidFill>
                  <a:schemeClr val="bg1"/>
                </a:solidFill>
              </a:rPr>
              <a:t>9</a:t>
            </a:r>
            <a:endParaRPr lang="en-US" sz="1200" dirty="0"/>
          </a:p>
        </p:txBody>
      </p:sp>
      <p:sp>
        <p:nvSpPr>
          <p:cNvPr id="38" name="Text 36"/>
          <p:cNvSpPr txBox="1"/>
          <p:nvPr/>
        </p:nvSpPr>
        <p:spPr>
          <a:xfrm>
            <a:off x="6812280" y="3264408"/>
            <a:ext cx="1783080" cy="731520"/>
          </a:xfrm>
          <a:prstGeom prst="rect">
            <a:avLst/>
          </a:prstGeom>
          <a:noFill/>
          <a:ln/>
        </p:spPr>
        <p:txBody>
          <a:bodyPr wrap="square" lIns="0" tIns="0" rIns="0" bIns="0" rtlCol="0" anchor="t"/>
          <a:lstStyle/>
          <a:p>
            <a:pPr marL="0" indent="0">
              <a:buNone/>
            </a:pPr>
            <a:r>
              <a:rPr lang="en-US" sz="1400" b="1" dirty="0">
                <a:solidFill>
                  <a:schemeClr val="tx1"/>
                </a:solidFill>
              </a:rPr>
              <a:t>Summary</a:t>
            </a:r>
            <a:endParaRPr lang="en-US" sz="1400" dirty="0"/>
          </a:p>
          <a:p>
            <a:pPr marL="0" indent="0">
              <a:buNone/>
            </a:pPr>
            <a:r>
              <a:rPr lang="en-US" sz="1100" dirty="0">
                <a:solidFill>
                  <a:schemeClr val="tx2"/>
                </a:solidFill>
              </a:rPr>
              <a:t>TextRank: TF-IDF + PageRank (optional)</a:t>
            </a:r>
            <a:endParaRPr lang="en-US" sz="1400" dirty="0"/>
          </a:p>
        </p:txBody>
      </p:sp>
      <p:sp>
        <p:nvSpPr>
          <p:cNvPr id="39" name="Text 37"/>
          <p:cNvSpPr txBox="1"/>
          <p:nvPr/>
        </p:nvSpPr>
        <p:spPr>
          <a:xfrm>
            <a:off x="457200" y="4224528"/>
            <a:ext cx="8229600" cy="274320"/>
          </a:xfrm>
          <a:prstGeom prst="rect">
            <a:avLst/>
          </a:prstGeom>
          <a:noFill/>
          <a:ln/>
        </p:spPr>
        <p:txBody>
          <a:bodyPr wrap="square" lIns="0" tIns="0" rIns="0" bIns="0" rtlCol="0" anchor="ctr"/>
          <a:lstStyle/>
          <a:p>
            <a:pPr marL="0" indent="0">
              <a:buNone/>
            </a:pPr>
            <a:r>
              <a:rPr lang="en-US" sz="1100" b="1" dirty="0">
                <a:solidFill>
                  <a:schemeClr val="accent1"/>
                </a:solidFill>
              </a:rPr>
              <a:t>Geometry  </a:t>
            </a:r>
            <a:r>
              <a:rPr lang="en-US" sz="1100" dirty="0">
                <a:solidFill>
                  <a:schemeClr val="tx2"/>
                </a:solidFill>
              </a:rPr>
              <a:t>·  </a:t>
            </a:r>
            <a:r>
              <a:rPr lang="en-US" sz="1100" b="1" dirty="0">
                <a:solidFill>
                  <a:schemeClr val="accent2"/>
                </a:solidFill>
              </a:rPr>
              <a:t>Appearance  </a:t>
            </a:r>
            <a:r>
              <a:rPr lang="en-US" sz="1100" dirty="0">
                <a:solidFill>
                  <a:schemeClr val="tx2"/>
                </a:solidFill>
              </a:rPr>
              <a:t>·  </a:t>
            </a:r>
            <a:r>
              <a:rPr lang="en-US" sz="1100" b="1" dirty="0">
                <a:solidFill>
                  <a:schemeClr val="accent5"/>
                </a:solidFill>
              </a:rPr>
              <a:t>Recognition  </a:t>
            </a:r>
            <a:r>
              <a:rPr lang="en-US" sz="1100" dirty="0">
                <a:solidFill>
                  <a:schemeClr val="tx2"/>
                </a:solidFill>
              </a:rPr>
              <a:t>·  </a:t>
            </a:r>
            <a:r>
              <a:rPr lang="en-US" sz="1100" b="1" dirty="0">
                <a:solidFill>
                  <a:schemeClr val="accent3"/>
                </a:solidFill>
              </a:rPr>
              <a:t>Language</a:t>
            </a:r>
            <a:r>
              <a:rPr lang="en-US" sz="1100" dirty="0">
                <a:solidFill>
                  <a:schemeClr val="tx2"/>
                </a:solidFill>
              </a:rPr>
              <a:t>      Output: final text, raw OCR text, enhanced image; --debug saves every stage</a:t>
            </a:r>
            <a:endParaRPr lang="en-US" sz="1100" dirty="0"/>
          </a:p>
        </p:txBody>
      </p:sp>
      <p:sp>
        <p:nvSpPr>
          <p:cNvPr id="40"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Stage 1 – Page boundary detection</a:t>
            </a:r>
            <a:endParaRPr lang="en-US" sz="2800" dirty="0"/>
          </a:p>
        </p:txBody>
      </p:sp>
      <p:sp>
        <p:nvSpPr>
          <p:cNvPr id="3" name="step-dot-0"/>
          <p:cNvSpPr/>
          <p:nvPr/>
        </p:nvSpPr>
        <p:spPr>
          <a:xfrm>
            <a:off x="457200" y="1042416"/>
            <a:ext cx="329184" cy="329184"/>
          </a:xfrm>
          <a:prstGeom prst="ellipse">
            <a:avLst/>
          </a:prstGeom>
          <a:solidFill>
            <a:schemeClr val="accent1"/>
          </a:solidFill>
          <a:ln/>
        </p:spPr>
      </p:sp>
      <p:sp>
        <p:nvSpPr>
          <p:cNvPr id="4" name="Text 2"/>
          <p:cNvSpPr txBox="1"/>
          <p:nvPr/>
        </p:nvSpPr>
        <p:spPr>
          <a:xfrm>
            <a:off x="457200" y="1042416"/>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5" name="Text 3"/>
          <p:cNvSpPr txBox="1"/>
          <p:nvPr/>
        </p:nvSpPr>
        <p:spPr>
          <a:xfrm>
            <a:off x="914400" y="1024128"/>
            <a:ext cx="4297680" cy="612648"/>
          </a:xfrm>
          <a:prstGeom prst="rect">
            <a:avLst/>
          </a:prstGeom>
          <a:noFill/>
          <a:ln/>
        </p:spPr>
        <p:txBody>
          <a:bodyPr wrap="square" lIns="0" tIns="0" rIns="0" bIns="0" rtlCol="0" anchor="t"/>
          <a:lstStyle/>
          <a:p>
            <a:pPr marL="0" indent="0">
              <a:buNone/>
            </a:pPr>
            <a:r>
              <a:rPr lang="en-US" sz="1400" b="1" dirty="0">
                <a:solidFill>
                  <a:schemeClr val="tx1"/>
                </a:solidFill>
              </a:rPr>
              <a:t>Pre-processing</a:t>
            </a:r>
            <a:endParaRPr lang="en-US" sz="1400" dirty="0"/>
          </a:p>
          <a:p>
            <a:pPr marL="0" indent="0">
              <a:buNone/>
            </a:pPr>
            <a:r>
              <a:rPr lang="en-US" sz="1200" dirty="0">
                <a:solidFill>
                  <a:schemeClr val="tx2"/>
                </a:solidFill>
              </a:rPr>
              <a:t>Resize to 800 px height, greyscale, 5×5 Gaussian blur</a:t>
            </a:r>
            <a:endParaRPr lang="en-US" sz="1400" dirty="0"/>
          </a:p>
        </p:txBody>
      </p:sp>
      <p:sp>
        <p:nvSpPr>
          <p:cNvPr id="6" name="step-dot-1"/>
          <p:cNvSpPr/>
          <p:nvPr/>
        </p:nvSpPr>
        <p:spPr>
          <a:xfrm>
            <a:off x="457200" y="1700784"/>
            <a:ext cx="329184" cy="329184"/>
          </a:xfrm>
          <a:prstGeom prst="ellipse">
            <a:avLst/>
          </a:prstGeom>
          <a:solidFill>
            <a:schemeClr val="accent1"/>
          </a:solidFill>
          <a:ln/>
        </p:spPr>
      </p:sp>
      <p:sp>
        <p:nvSpPr>
          <p:cNvPr id="7" name="Text 5"/>
          <p:cNvSpPr txBox="1"/>
          <p:nvPr/>
        </p:nvSpPr>
        <p:spPr>
          <a:xfrm>
            <a:off x="457200" y="1700784"/>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8" name="Text 6"/>
          <p:cNvSpPr txBox="1"/>
          <p:nvPr/>
        </p:nvSpPr>
        <p:spPr>
          <a:xfrm>
            <a:off x="914400" y="1682496"/>
            <a:ext cx="4297680" cy="612648"/>
          </a:xfrm>
          <a:prstGeom prst="rect">
            <a:avLst/>
          </a:prstGeom>
          <a:noFill/>
          <a:ln/>
        </p:spPr>
        <p:txBody>
          <a:bodyPr wrap="square" lIns="0" tIns="0" rIns="0" bIns="0" rtlCol="0" anchor="t"/>
          <a:lstStyle/>
          <a:p>
            <a:pPr marL="0" indent="0">
              <a:buNone/>
            </a:pPr>
            <a:r>
              <a:rPr lang="en-US" sz="1400" b="1" dirty="0">
                <a:solidFill>
                  <a:schemeClr val="tx1"/>
                </a:solidFill>
              </a:rPr>
              <a:t>Edge detection</a:t>
            </a:r>
            <a:endParaRPr lang="en-US" sz="1400" dirty="0"/>
          </a:p>
          <a:p>
            <a:pPr marL="0" indent="0">
              <a:buNone/>
            </a:pPr>
            <a:r>
              <a:rPr lang="en-US" sz="1200" dirty="0">
                <a:solidFill>
                  <a:schemeClr val="tx2"/>
                </a:solidFill>
              </a:rPr>
              <a:t>Canny at (30,100), (50,150), (70,180), (100,200); 7×7 closing, twice</a:t>
            </a:r>
            <a:endParaRPr lang="en-US" sz="1400" dirty="0"/>
          </a:p>
        </p:txBody>
      </p:sp>
      <p:sp>
        <p:nvSpPr>
          <p:cNvPr id="9" name="step-dot-2"/>
          <p:cNvSpPr/>
          <p:nvPr/>
        </p:nvSpPr>
        <p:spPr>
          <a:xfrm>
            <a:off x="457200" y="2359152"/>
            <a:ext cx="329184" cy="329184"/>
          </a:xfrm>
          <a:prstGeom prst="ellipse">
            <a:avLst/>
          </a:prstGeom>
          <a:solidFill>
            <a:schemeClr val="accent1"/>
          </a:solidFill>
          <a:ln/>
        </p:spPr>
      </p:sp>
      <p:sp>
        <p:nvSpPr>
          <p:cNvPr id="10" name="Text 8"/>
          <p:cNvSpPr txBox="1"/>
          <p:nvPr/>
        </p:nvSpPr>
        <p:spPr>
          <a:xfrm>
            <a:off x="457200" y="2359152"/>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1" name="Text 9"/>
          <p:cNvSpPr txBox="1"/>
          <p:nvPr/>
        </p:nvSpPr>
        <p:spPr>
          <a:xfrm>
            <a:off x="914400" y="2340864"/>
            <a:ext cx="4297680" cy="612648"/>
          </a:xfrm>
          <a:prstGeom prst="rect">
            <a:avLst/>
          </a:prstGeom>
          <a:noFill/>
          <a:ln/>
        </p:spPr>
        <p:txBody>
          <a:bodyPr wrap="square" lIns="0" tIns="0" rIns="0" bIns="0" rtlCol="0" anchor="t"/>
          <a:lstStyle/>
          <a:p>
            <a:pPr marL="0" indent="0">
              <a:buNone/>
            </a:pPr>
            <a:r>
              <a:rPr lang="en-US" sz="1400" b="1" dirty="0">
                <a:solidFill>
                  <a:schemeClr val="tx1"/>
                </a:solidFill>
              </a:rPr>
              <a:t>Contours</a:t>
            </a:r>
            <a:endParaRPr lang="en-US" sz="1400" dirty="0"/>
          </a:p>
          <a:p>
            <a:pPr marL="0" indent="0">
              <a:buNone/>
            </a:pPr>
            <a:r>
              <a:rPr lang="en-US" sz="1200" dirty="0">
                <a:solidFill>
                  <a:schemeClr val="tx2"/>
                </a:solidFill>
              </a:rPr>
              <a:t>30 largest; Douglas–Peucker at 1.5–4% of perimeter; keep 4-vertex polygons</a:t>
            </a:r>
            <a:endParaRPr lang="en-US" sz="1400" dirty="0"/>
          </a:p>
        </p:txBody>
      </p:sp>
      <p:sp>
        <p:nvSpPr>
          <p:cNvPr id="12" name="step-dot-3"/>
          <p:cNvSpPr/>
          <p:nvPr/>
        </p:nvSpPr>
        <p:spPr>
          <a:xfrm>
            <a:off x="457200" y="3017520"/>
            <a:ext cx="329184" cy="329184"/>
          </a:xfrm>
          <a:prstGeom prst="ellipse">
            <a:avLst/>
          </a:prstGeom>
          <a:solidFill>
            <a:schemeClr val="accent1"/>
          </a:solidFill>
          <a:ln/>
        </p:spPr>
      </p:sp>
      <p:sp>
        <p:nvSpPr>
          <p:cNvPr id="13" name="Text 11"/>
          <p:cNvSpPr txBox="1"/>
          <p:nvPr/>
        </p:nvSpPr>
        <p:spPr>
          <a:xfrm>
            <a:off x="457200" y="3017520"/>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14" name="Text 12"/>
          <p:cNvSpPr txBox="1"/>
          <p:nvPr/>
        </p:nvSpPr>
        <p:spPr>
          <a:xfrm>
            <a:off x="914400" y="2999232"/>
            <a:ext cx="4297680" cy="612648"/>
          </a:xfrm>
          <a:prstGeom prst="rect">
            <a:avLst/>
          </a:prstGeom>
          <a:noFill/>
          <a:ln/>
        </p:spPr>
        <p:txBody>
          <a:bodyPr wrap="square" lIns="0" tIns="0" rIns="0" bIns="0" rtlCol="0" anchor="t"/>
          <a:lstStyle/>
          <a:p>
            <a:pPr marL="0" indent="0">
              <a:buNone/>
            </a:pPr>
            <a:r>
              <a:rPr lang="en-US" sz="1400" b="1" dirty="0">
                <a:solidFill>
                  <a:schemeClr val="tx1"/>
                </a:solidFill>
              </a:rPr>
              <a:t>Validity checks</a:t>
            </a:r>
            <a:endParaRPr lang="en-US" sz="1400" dirty="0"/>
          </a:p>
          <a:p>
            <a:pPr marL="0" indent="0">
              <a:buNone/>
            </a:pPr>
            <a:r>
              <a:rPr lang="en-US" sz="1200" dirty="0">
                <a:solidFill>
                  <a:schemeClr val="tx2"/>
                </a:solidFill>
              </a:rPr>
              <a:t>Area 15–105% of image, sides ≥ 40 px, aspect ratio ≤ 4; largest valid wins</a:t>
            </a:r>
            <a:endParaRPr lang="en-US" sz="1400" dirty="0"/>
          </a:p>
        </p:txBody>
      </p:sp>
      <p:sp>
        <p:nvSpPr>
          <p:cNvPr id="15" name="step-dot-4"/>
          <p:cNvSpPr/>
          <p:nvPr/>
        </p:nvSpPr>
        <p:spPr>
          <a:xfrm>
            <a:off x="457200" y="3675888"/>
            <a:ext cx="329184" cy="329184"/>
          </a:xfrm>
          <a:prstGeom prst="ellipse">
            <a:avLst/>
          </a:prstGeom>
          <a:solidFill>
            <a:schemeClr val="accent1"/>
          </a:solidFill>
          <a:ln/>
        </p:spPr>
      </p:sp>
      <p:sp>
        <p:nvSpPr>
          <p:cNvPr id="16" name="Text 14"/>
          <p:cNvSpPr txBox="1"/>
          <p:nvPr/>
        </p:nvSpPr>
        <p:spPr>
          <a:xfrm>
            <a:off x="457200" y="3675888"/>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17" name="Text 15"/>
          <p:cNvSpPr txBox="1"/>
          <p:nvPr/>
        </p:nvSpPr>
        <p:spPr>
          <a:xfrm>
            <a:off x="914400" y="3657600"/>
            <a:ext cx="4297680" cy="612648"/>
          </a:xfrm>
          <a:prstGeom prst="rect">
            <a:avLst/>
          </a:prstGeom>
          <a:noFill/>
          <a:ln/>
        </p:spPr>
        <p:txBody>
          <a:bodyPr wrap="square" lIns="0" tIns="0" rIns="0" bIns="0" rtlCol="0" anchor="t"/>
          <a:lstStyle/>
          <a:p>
            <a:pPr marL="0" indent="0">
              <a:buNone/>
            </a:pPr>
            <a:r>
              <a:rPr lang="en-US" sz="1400" b="1" dirty="0">
                <a:solidFill>
                  <a:schemeClr val="tx1"/>
                </a:solidFill>
              </a:rPr>
              <a:t>Fallback</a:t>
            </a:r>
            <a:endParaRPr lang="en-US" sz="1400" dirty="0"/>
          </a:p>
          <a:p>
            <a:pPr marL="0" indent="0">
              <a:buNone/>
            </a:pPr>
            <a:r>
              <a:rPr lang="en-US" sz="1200" dirty="0">
                <a:solidFill>
                  <a:schemeClr val="tx2"/>
                </a:solidFill>
              </a:rPr>
              <a:t>minAreaRect of largest contour (≥ 30% of frame); otherwise whole image</a:t>
            </a:r>
            <a:endParaRPr lang="en-US" sz="1400" dirty="0"/>
          </a:p>
        </p:txBody>
      </p:sp>
      <p:sp>
        <p:nvSpPr>
          <p:cNvPr id="18" name="contrast-card"/>
          <p:cNvSpPr/>
          <p:nvPr/>
        </p:nvSpPr>
        <p:spPr>
          <a:xfrm>
            <a:off x="5486400" y="1024128"/>
            <a:ext cx="3200400" cy="2057400"/>
          </a:xfrm>
          <a:prstGeom prst="roundRect">
            <a:avLst>
              <a:gd name="adj" fmla="val 3556"/>
            </a:avLst>
          </a:prstGeom>
          <a:solidFill>
            <a:schemeClr val="bg2"/>
          </a:solidFill>
          <a:ln/>
        </p:spPr>
      </p:sp>
      <p:sp>
        <p:nvSpPr>
          <p:cNvPr id="19" name="Text 17"/>
          <p:cNvSpPr txBox="1"/>
          <p:nvPr/>
        </p:nvSpPr>
        <p:spPr>
          <a:xfrm>
            <a:off x="5650992" y="1115568"/>
            <a:ext cx="2880360" cy="1874520"/>
          </a:xfrm>
          <a:prstGeom prst="rect">
            <a:avLst/>
          </a:prstGeom>
          <a:noFill/>
          <a:ln/>
        </p:spPr>
        <p:txBody>
          <a:bodyPr wrap="square" lIns="0" tIns="0" rIns="0" bIns="0" rtlCol="0" anchor="t"/>
          <a:lstStyle/>
          <a:p>
            <a:pPr marL="0" indent="0">
              <a:buNone/>
            </a:pPr>
            <a:r>
              <a:rPr lang="en-US" sz="1400" b="1" dirty="0">
                <a:solidFill>
                  <a:schemeClr val="tx1"/>
                </a:solidFill>
              </a:rPr>
              <a:t>Boundary-contrast test</a:t>
            </a:r>
            <a:endParaRPr lang="en-US" sz="1400" dirty="0"/>
          </a:p>
          <a:p>
            <a:pPr marL="0" indent="0">
              <a:buNone/>
            </a:pPr>
            <a:r>
              <a:rPr lang="en-US" sz="1200" dirty="0">
                <a:solidFill>
                  <a:schemeClr val="tx1"/>
                </a:solidFill>
              </a:rPr>
              <a:t>C = |median(inner ring) − median(outer ring)|, rings 8 px wide; accept if C ≥ 25</a:t>
            </a:r>
            <a:endParaRPr lang="en-US" sz="1400" dirty="0"/>
          </a:p>
          <a:p>
            <a:pPr marL="0" indent="0">
              <a:buNone/>
            </a:pPr>
            <a:r>
              <a:rPr lang="en-US" sz="600" dirty="0">
                <a:solidFill>
                  <a:srgbClr val="000000"/>
                </a:solidFill>
              </a:rPr>
              <a:t> </a:t>
            </a:r>
            <a:endParaRPr lang="en-US" sz="1400" dirty="0"/>
          </a:p>
          <a:p>
            <a:pPr marL="0" indent="0">
              <a:buNone/>
            </a:pPr>
            <a:r>
              <a:rPr lang="en-US" sz="1200" dirty="0">
                <a:solidFill>
                  <a:schemeClr val="tx2"/>
                </a:solidFill>
              </a:rPr>
              <a:t>Page on a dark desk: C ≈ 145 (accepted)</a:t>
            </a:r>
            <a:endParaRPr lang="en-US" sz="1400" dirty="0"/>
          </a:p>
          <a:p>
            <a:pPr marL="0" indent="0">
              <a:buNone/>
            </a:pPr>
            <a:r>
              <a:rPr lang="en-US" sz="1200" dirty="0">
                <a:solidFill>
                  <a:schemeClr val="tx2"/>
                </a:solidFill>
              </a:rPr>
              <a:t>Text block on a cropped page: C ≈ 19 (rejected)</a:t>
            </a:r>
            <a:endParaRPr lang="en-US" sz="1400" dirty="0"/>
          </a:p>
        </p:txBody>
      </p:sp>
      <p:pic>
        <p:nvPicPr>
          <p:cNvPr id="20" name="boundary-figure" descr="A text block wrongly taken as the page, the resulting cropped output, and a real page on a desk"/>
          <p:cNvPicPr>
            <a:picLocks noChangeAspect="1"/>
          </p:cNvPicPr>
          <p:nvPr/>
        </p:nvPicPr>
        <p:blipFill>
          <a:blip r:embed="rId3"/>
          <a:stretch>
            <a:fillRect/>
          </a:stretch>
        </p:blipFill>
        <p:spPr>
          <a:xfrm>
            <a:off x="5486400" y="3200400"/>
            <a:ext cx="3200400" cy="982980"/>
          </a:xfrm>
          <a:prstGeom prst="rect">
            <a:avLst/>
          </a:prstGeom>
        </p:spPr>
      </p:pic>
      <p:sp>
        <p:nvSpPr>
          <p:cNvPr id="21" name="Text 18"/>
          <p:cNvSpPr txBox="1"/>
          <p:nvPr/>
        </p:nvSpPr>
        <p:spPr>
          <a:xfrm>
            <a:off x="5486400" y="4206240"/>
            <a:ext cx="3200400" cy="228600"/>
          </a:xfrm>
          <a:prstGeom prst="rect">
            <a:avLst/>
          </a:prstGeom>
          <a:noFill/>
          <a:ln/>
        </p:spPr>
        <p:txBody>
          <a:bodyPr wrap="square" lIns="0" tIns="0" rIns="0" bIns="0" rtlCol="0" anchor="ctr"/>
          <a:lstStyle/>
          <a:p>
            <a:pPr marL="0" indent="0">
              <a:buNone/>
            </a:pPr>
            <a:r>
              <a:rPr lang="en-US" sz="1000" i="1" dirty="0">
                <a:solidFill>
                  <a:schemeClr val="tx2"/>
                </a:solidFill>
              </a:rPr>
              <a:t>Left: false detection before the test; right: real page</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Stages 2–3 – Perspective correction and deskew</a:t>
            </a:r>
            <a:endParaRPr lang="en-US" sz="2800" dirty="0"/>
          </a:p>
        </p:txBody>
      </p:sp>
      <p:sp>
        <p:nvSpPr>
          <p:cNvPr id="3" name="Text 1"/>
          <p:cNvSpPr txBox="1"/>
          <p:nvPr/>
        </p:nvSpPr>
        <p:spPr>
          <a:xfrm>
            <a:off x="457200" y="1005840"/>
            <a:ext cx="4023360" cy="274320"/>
          </a:xfrm>
          <a:prstGeom prst="rect">
            <a:avLst/>
          </a:prstGeom>
          <a:noFill/>
          <a:ln/>
        </p:spPr>
        <p:txBody>
          <a:bodyPr wrap="square" lIns="0" tIns="0" rIns="0" bIns="0" rtlCol="0" anchor="ctr"/>
          <a:lstStyle/>
          <a:p>
            <a:pPr marL="0" indent="0">
              <a:buNone/>
            </a:pPr>
            <a:r>
              <a:rPr lang="en-US" sz="1400" b="1" dirty="0">
                <a:solidFill>
                  <a:schemeClr val="tx1"/>
                </a:solidFill>
              </a:rPr>
              <a:t>Corner ordering (y grows downward)</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402336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tblGrid>
              <a:tr h="246888">
                <a:tc>
                  <a:txBody>
                    <a:bodyPr/>
                    <a:lstStyle/>
                    <a:p>
                      <a:pPr marL="0" indent="0">
                        <a:buNone/>
                      </a:pPr>
                      <a:r>
                        <a:rPr lang="en-US" sz="1200" b="1" dirty="0">
                          <a:solidFill>
                            <a:schemeClr val="bg1"/>
                          </a:solidFill>
                        </a:rPr>
                        <a:t>Corner</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Rule</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246888">
                <a:tc>
                  <a:txBody>
                    <a:bodyPr/>
                    <a:lstStyle/>
                    <a:p>
                      <a:pPr marL="0" indent="0">
                        <a:buNone/>
                      </a:pPr>
                      <a:r>
                        <a:rPr lang="en-US" sz="1200" dirty="0">
                          <a:solidFill>
                            <a:schemeClr val="tx1"/>
                          </a:solidFill>
                        </a:rPr>
                        <a:t>Top-left</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smallest x + y</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1"/>
                  </a:ext>
                </a:extLst>
              </a:tr>
              <a:tr h="246888">
                <a:tc>
                  <a:txBody>
                    <a:bodyPr/>
                    <a:lstStyle/>
                    <a:p>
                      <a:pPr marL="0" indent="0">
                        <a:buNone/>
                      </a:pPr>
                      <a:r>
                        <a:rPr lang="en-US" sz="1200" dirty="0">
                          <a:solidFill>
                            <a:schemeClr val="tx1"/>
                          </a:solidFill>
                        </a:rPr>
                        <a:t>Bottom-right</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largest x + y</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2"/>
                  </a:ext>
                </a:extLst>
              </a:tr>
              <a:tr h="246888">
                <a:tc>
                  <a:txBody>
                    <a:bodyPr/>
                    <a:lstStyle/>
                    <a:p>
                      <a:pPr marL="0" indent="0">
                        <a:buNone/>
                      </a:pPr>
                      <a:r>
                        <a:rPr lang="en-US" sz="1200" dirty="0">
                          <a:solidFill>
                            <a:schemeClr val="tx1"/>
                          </a:solidFill>
                        </a:rPr>
                        <a:t>Top-right</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smallest y − x</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3"/>
                  </a:ext>
                </a:extLst>
              </a:tr>
              <a:tr h="246888">
                <a:tc>
                  <a:txBody>
                    <a:bodyPr/>
                    <a:lstStyle/>
                    <a:p>
                      <a:pPr marL="0" indent="0">
                        <a:buNone/>
                      </a:pPr>
                      <a:r>
                        <a:rPr lang="en-US" sz="1200" dirty="0">
                          <a:solidFill>
                            <a:schemeClr val="tx1"/>
                          </a:solidFill>
                        </a:rPr>
                        <a:t>Bottom-left</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largest y − x</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txBox="1"/>
          <p:nvPr/>
        </p:nvSpPr>
        <p:spPr>
          <a:xfrm>
            <a:off x="457200" y="2834640"/>
            <a:ext cx="4023360" cy="685800"/>
          </a:xfrm>
          <a:prstGeom prst="rect">
            <a:avLst/>
          </a:prstGeom>
          <a:noFill/>
          <a:ln/>
        </p:spPr>
        <p:txBody>
          <a:bodyPr wrap="square" lIns="0" tIns="0" rIns="0" bIns="0" rtlCol="0" anchor="t"/>
          <a:lstStyle/>
          <a:p>
            <a:pPr marL="0" indent="0">
              <a:buNone/>
            </a:pPr>
            <a:r>
              <a:rPr lang="en-US" sz="1400" b="1" dirty="0">
                <a:solidFill>
                  <a:schemeClr val="tx1"/>
                </a:solidFill>
              </a:rPr>
              <a:t>Homography</a:t>
            </a:r>
            <a:endParaRPr lang="en-US" sz="1400" dirty="0"/>
          </a:p>
          <a:p>
            <a:pPr marL="0" indent="0">
              <a:buNone/>
            </a:pPr>
            <a:r>
              <a:rPr lang="en-US" sz="1200" dirty="0">
                <a:solidFill>
                  <a:schemeClr val="tx2"/>
                </a:solidFill>
              </a:rPr>
              <a:t>3×3 matrix, 8 unknowns from 4 point pairs (getPerspectiveTransform); bicubic warpPerspective; output size = longer of each pair of opposite sides</a:t>
            </a:r>
            <a:endParaRPr lang="en-US" sz="1400" dirty="0"/>
          </a:p>
        </p:txBody>
      </p:sp>
      <p:sp>
        <p:nvSpPr>
          <p:cNvPr id="4" name="Text 3"/>
          <p:cNvSpPr txBox="1"/>
          <p:nvPr/>
        </p:nvSpPr>
        <p:spPr>
          <a:xfrm>
            <a:off x="457200" y="3657600"/>
            <a:ext cx="4023360" cy="868680"/>
          </a:xfrm>
          <a:prstGeom prst="rect">
            <a:avLst/>
          </a:prstGeom>
          <a:noFill/>
          <a:ln/>
        </p:spPr>
        <p:txBody>
          <a:bodyPr wrap="square" lIns="0" tIns="0" rIns="0" bIns="0" rtlCol="0" anchor="t"/>
          <a:lstStyle/>
          <a:p>
            <a:pPr marL="0" indent="0">
              <a:buNone/>
            </a:pPr>
            <a:r>
              <a:rPr lang="en-US" sz="1400" b="1" dirty="0">
                <a:solidFill>
                  <a:schemeClr val="tx1"/>
                </a:solidFill>
              </a:rPr>
              <a:t>Deskew</a:t>
            </a:r>
            <a:endParaRPr lang="en-US" sz="1400" dirty="0"/>
          </a:p>
          <a:p>
            <a:pPr marL="0" indent="0">
              <a:buNone/>
            </a:pPr>
            <a:r>
              <a:rPr lang="en-US" sz="1200" dirty="0">
                <a:solidFill>
                  <a:schemeClr val="tx2"/>
                </a:solidFill>
              </a:rPr>
              <a:t>HoughLinesP on Canny edges, segments ≥ W/5; keep |α| &lt; 15°; median angle; skip if &lt; 0.5°; rotate onto enlarged canvas W′ = H|sin α| + W|cos α|</a:t>
            </a:r>
            <a:endParaRPr lang="en-US" sz="1400" dirty="0"/>
          </a:p>
        </p:txBody>
      </p:sp>
      <p:pic>
        <p:nvPicPr>
          <p:cNvPr id="7" name="geometry-figure" descr="Synthetic desk capture with detected corners, flattened page, page rotated 8 degrees, and the page after deskewing"/>
          <p:cNvPicPr>
            <a:picLocks noChangeAspect="1"/>
          </p:cNvPicPr>
          <p:nvPr/>
        </p:nvPicPr>
        <p:blipFill>
          <a:blip r:embed="rId3"/>
          <a:stretch>
            <a:fillRect/>
          </a:stretch>
        </p:blipFill>
        <p:spPr>
          <a:xfrm>
            <a:off x="4754880" y="1005840"/>
            <a:ext cx="3931920" cy="2246681"/>
          </a:xfrm>
          <a:prstGeom prst="rect">
            <a:avLst/>
          </a:prstGeom>
        </p:spPr>
      </p:pic>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4754880" y="3429000"/>
          <a:ext cx="3931920" cy="914400"/>
        </p:xfrm>
        <a:graphic>
          <a:graphicData uri="http://schemas.openxmlformats.org/drawingml/2006/table">
            <a:tbl>
              <a:tblPr/>
              <a:tblGrid>
                <a:gridCol w="19202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274320">
                <a:tc>
                  <a:txBody>
                    <a:bodyPr/>
                    <a:lstStyle/>
                    <a:p>
                      <a:pPr marL="0" indent="0">
                        <a:buNone/>
                      </a:pPr>
                      <a:r>
                        <a:rPr lang="en-US" sz="1200" b="1" dirty="0">
                          <a:solidFill>
                            <a:schemeClr val="bg1"/>
                          </a:solidFill>
                        </a:rPr>
                        <a:t>Synthetic test</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Direct OCR</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Pipeline</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274320">
                <a:tc>
                  <a:txBody>
                    <a:bodyPr/>
                    <a:lstStyle/>
                    <a:p>
                      <a:pPr marL="0" indent="0">
                        <a:buNone/>
                      </a:pPr>
                      <a:r>
                        <a:rPr lang="en-US" sz="1200" dirty="0">
                          <a:solidFill>
                            <a:schemeClr val="tx1"/>
                          </a:solidFill>
                        </a:rPr>
                        <a:t>Rotated 8°</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77.8%</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39.7%</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1200" dirty="0">
                          <a:solidFill>
                            <a:schemeClr val="tx1"/>
                          </a:solidFill>
                        </a:rPr>
                        <a:t>Desk, strong perspective</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62.7%</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44.4%</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9" name="Text 4"/>
          <p:cNvSpPr txBox="1"/>
          <p:nvPr/>
        </p:nvSpPr>
        <p:spPr>
          <a:xfrm>
            <a:off x="4754880" y="4315968"/>
            <a:ext cx="3931920" cy="228600"/>
          </a:xfrm>
          <a:prstGeom prst="rect">
            <a:avLst/>
          </a:prstGeom>
          <a:noFill/>
          <a:ln/>
        </p:spPr>
        <p:txBody>
          <a:bodyPr wrap="square" lIns="0" tIns="0" rIns="0" bIns="0" rtlCol="0" anchor="ctr"/>
          <a:lstStyle/>
          <a:p>
            <a:pPr marL="0" indent="0">
              <a:buNone/>
            </a:pPr>
            <a:r>
              <a:rPr lang="en-US" sz="1000" i="1" dirty="0">
                <a:solidFill>
                  <a:schemeClr val="tx2"/>
                </a:solidFill>
              </a:rPr>
              <a:t>Character error rate; lower is better</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Stage 4 – Contrast and illumination normalisation</a:t>
            </a:r>
            <a:endParaRPr lang="en-US" sz="2800" dirty="0"/>
          </a:p>
        </p:txBody>
      </p:sp>
      <p:pic>
        <p:nvPicPr>
          <p:cNvPr id="3" name="stages-figure" descr="Six panels of the test page: input, CLAHE, background division, ruled-line mask, Sauvola and stroke reconnection"/>
          <p:cNvPicPr>
            <a:picLocks noChangeAspect="1"/>
          </p:cNvPicPr>
          <p:nvPr/>
        </p:nvPicPr>
        <p:blipFill>
          <a:blip r:embed="rId3"/>
          <a:stretch>
            <a:fillRect/>
          </a:stretch>
        </p:blipFill>
        <p:spPr>
          <a:xfrm>
            <a:off x="457200" y="1005840"/>
            <a:ext cx="4114800" cy="2718511"/>
          </a:xfrm>
          <a:prstGeom prst="rect">
            <a:avLst/>
          </a:prstGeom>
        </p:spPr>
      </p:pic>
      <p:sp>
        <p:nvSpPr>
          <p:cNvPr id="4" name="Text 1"/>
          <p:cNvSpPr txBox="1"/>
          <p:nvPr/>
        </p:nvSpPr>
        <p:spPr>
          <a:xfrm>
            <a:off x="457200" y="3767328"/>
            <a:ext cx="4114800" cy="228600"/>
          </a:xfrm>
          <a:prstGeom prst="rect">
            <a:avLst/>
          </a:prstGeom>
          <a:noFill/>
          <a:ln/>
        </p:spPr>
        <p:txBody>
          <a:bodyPr wrap="square" lIns="0" tIns="0" rIns="0" bIns="0" rtlCol="0" anchor="ctr"/>
          <a:lstStyle/>
          <a:p>
            <a:pPr marL="0" indent="0">
              <a:buNone/>
            </a:pPr>
            <a:r>
              <a:rPr lang="en-US" sz="1000" i="1" dirty="0">
                <a:solidFill>
                  <a:schemeClr val="tx2"/>
                </a:solidFill>
              </a:rPr>
              <a:t>Panels a–f: input, CLAHE, background division, ruled-line mask, Sauvola, closing</a:t>
            </a:r>
            <a:endParaRPr lang="en-US" sz="1000" dirty="0"/>
          </a:p>
        </p:txBody>
      </p:sp>
      <p:sp>
        <p:nvSpPr>
          <p:cNvPr id="5" name="step-dot-0"/>
          <p:cNvSpPr/>
          <p:nvPr/>
        </p:nvSpPr>
        <p:spPr>
          <a:xfrm>
            <a:off x="4846320" y="1024128"/>
            <a:ext cx="329184" cy="329184"/>
          </a:xfrm>
          <a:prstGeom prst="ellipse">
            <a:avLst/>
          </a:prstGeom>
          <a:solidFill>
            <a:schemeClr val="accent2"/>
          </a:solidFill>
          <a:ln/>
        </p:spPr>
      </p:sp>
      <p:sp>
        <p:nvSpPr>
          <p:cNvPr id="6" name="Text 3"/>
          <p:cNvSpPr txBox="1"/>
          <p:nvPr/>
        </p:nvSpPr>
        <p:spPr>
          <a:xfrm>
            <a:off x="4846320" y="1024128"/>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7" name="Text 4"/>
          <p:cNvSpPr txBox="1"/>
          <p:nvPr/>
        </p:nvSpPr>
        <p:spPr>
          <a:xfrm>
            <a:off x="5303520" y="1005840"/>
            <a:ext cx="3383280" cy="594360"/>
          </a:xfrm>
          <a:prstGeom prst="rect">
            <a:avLst/>
          </a:prstGeom>
          <a:noFill/>
          <a:ln/>
        </p:spPr>
        <p:txBody>
          <a:bodyPr wrap="square" lIns="0" tIns="0" rIns="0" bIns="0" rtlCol="0" anchor="t"/>
          <a:lstStyle/>
          <a:p>
            <a:pPr marL="0" indent="0">
              <a:buNone/>
            </a:pPr>
            <a:r>
              <a:rPr lang="en-US" sz="1400" b="1" dirty="0">
                <a:solidFill>
                  <a:schemeClr val="tx1"/>
                </a:solidFill>
              </a:rPr>
              <a:t>Upscale 2×</a:t>
            </a:r>
            <a:endParaRPr lang="en-US" sz="1400" dirty="0"/>
          </a:p>
          <a:p>
            <a:pPr marL="0" indent="0">
              <a:buNone/>
            </a:pPr>
            <a:r>
              <a:rPr lang="en-US" sz="1200" dirty="0">
                <a:solidFill>
                  <a:schemeClr val="tx2"/>
                </a:solidFill>
              </a:rPr>
              <a:t>Bicubic; 1027 × 407 → about 2070 × 860 px</a:t>
            </a:r>
            <a:endParaRPr lang="en-US" sz="1400" dirty="0"/>
          </a:p>
        </p:txBody>
      </p:sp>
      <p:sp>
        <p:nvSpPr>
          <p:cNvPr id="8" name="step-dot-1"/>
          <p:cNvSpPr/>
          <p:nvPr/>
        </p:nvSpPr>
        <p:spPr>
          <a:xfrm>
            <a:off x="4846320" y="1664208"/>
            <a:ext cx="329184" cy="329184"/>
          </a:xfrm>
          <a:prstGeom prst="ellipse">
            <a:avLst/>
          </a:prstGeom>
          <a:solidFill>
            <a:schemeClr val="accent2"/>
          </a:solidFill>
          <a:ln/>
        </p:spPr>
      </p:sp>
      <p:sp>
        <p:nvSpPr>
          <p:cNvPr id="9" name="Text 6"/>
          <p:cNvSpPr txBox="1"/>
          <p:nvPr/>
        </p:nvSpPr>
        <p:spPr>
          <a:xfrm>
            <a:off x="4846320" y="1664208"/>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0" name="Text 7"/>
          <p:cNvSpPr txBox="1"/>
          <p:nvPr/>
        </p:nvSpPr>
        <p:spPr>
          <a:xfrm>
            <a:off x="5303520" y="1645920"/>
            <a:ext cx="3383280" cy="594360"/>
          </a:xfrm>
          <a:prstGeom prst="rect">
            <a:avLst/>
          </a:prstGeom>
          <a:noFill/>
          <a:ln/>
        </p:spPr>
        <p:txBody>
          <a:bodyPr wrap="square" lIns="0" tIns="0" rIns="0" bIns="0" rtlCol="0" anchor="t"/>
          <a:lstStyle/>
          <a:p>
            <a:pPr marL="0" indent="0">
              <a:buNone/>
            </a:pPr>
            <a:r>
              <a:rPr lang="en-US" sz="1400" b="1" dirty="0">
                <a:solidFill>
                  <a:schemeClr val="tx1"/>
                </a:solidFill>
              </a:rPr>
              <a:t>CLAHE on L* only</a:t>
            </a:r>
            <a:endParaRPr lang="en-US" sz="1400" dirty="0"/>
          </a:p>
          <a:p>
            <a:pPr marL="0" indent="0">
              <a:buNone/>
            </a:pPr>
            <a:r>
              <a:rPr lang="en-US" sz="1200" dirty="0">
                <a:solidFill>
                  <a:schemeClr val="tx2"/>
                </a:solidFill>
              </a:rPr>
              <a:t>LAB colour space, 8×8 tiles, clip limit 2.2 → clahe_bgr</a:t>
            </a:r>
            <a:endParaRPr lang="en-US" sz="1400" dirty="0"/>
          </a:p>
        </p:txBody>
      </p:sp>
      <p:sp>
        <p:nvSpPr>
          <p:cNvPr id="11" name="step-dot-2"/>
          <p:cNvSpPr/>
          <p:nvPr/>
        </p:nvSpPr>
        <p:spPr>
          <a:xfrm>
            <a:off x="4846320" y="2304288"/>
            <a:ext cx="329184" cy="329184"/>
          </a:xfrm>
          <a:prstGeom prst="ellipse">
            <a:avLst/>
          </a:prstGeom>
          <a:solidFill>
            <a:schemeClr val="accent2"/>
          </a:solidFill>
          <a:ln/>
        </p:spPr>
      </p:sp>
      <p:sp>
        <p:nvSpPr>
          <p:cNvPr id="12" name="Text 9"/>
          <p:cNvSpPr txBox="1"/>
          <p:nvPr/>
        </p:nvSpPr>
        <p:spPr>
          <a:xfrm>
            <a:off x="4846320" y="2304288"/>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3" name="Text 10"/>
          <p:cNvSpPr txBox="1"/>
          <p:nvPr/>
        </p:nvSpPr>
        <p:spPr>
          <a:xfrm>
            <a:off x="5303520" y="2286000"/>
            <a:ext cx="3383280" cy="594360"/>
          </a:xfrm>
          <a:prstGeom prst="rect">
            <a:avLst/>
          </a:prstGeom>
          <a:noFill/>
          <a:ln/>
        </p:spPr>
        <p:txBody>
          <a:bodyPr wrap="square" lIns="0" tIns="0" rIns="0" bIns="0" rtlCol="0" anchor="t"/>
          <a:lstStyle/>
          <a:p>
            <a:pPr marL="0" indent="0">
              <a:buNone/>
            </a:pPr>
            <a:r>
              <a:rPr lang="en-US" sz="1400" b="1" dirty="0">
                <a:solidFill>
                  <a:schemeClr val="tx1"/>
                </a:solidFill>
              </a:rPr>
              <a:t>Background division</a:t>
            </a:r>
            <a:endParaRPr lang="en-US" sz="1400" dirty="0"/>
          </a:p>
          <a:p>
            <a:pPr marL="0" indent="0">
              <a:buNone/>
            </a:pPr>
            <a:r>
              <a:rPr lang="en-US" sz="1200" dirty="0">
                <a:solidFill>
                  <a:schemeClr val="tx2"/>
                </a:solidFill>
              </a:rPr>
              <a:t>B = median₂₁(dilate₃₁(I)); N = normalise(255 − |I − B|)</a:t>
            </a:r>
            <a:endParaRPr lang="en-US" sz="1400" dirty="0"/>
          </a:p>
        </p:txBody>
      </p:sp>
      <p:sp>
        <p:nvSpPr>
          <p:cNvPr id="14" name="step-dot-3"/>
          <p:cNvSpPr/>
          <p:nvPr/>
        </p:nvSpPr>
        <p:spPr>
          <a:xfrm>
            <a:off x="4846320" y="2944368"/>
            <a:ext cx="329184" cy="329184"/>
          </a:xfrm>
          <a:prstGeom prst="ellipse">
            <a:avLst/>
          </a:prstGeom>
          <a:solidFill>
            <a:schemeClr val="accent2"/>
          </a:solidFill>
          <a:ln/>
        </p:spPr>
      </p:sp>
      <p:sp>
        <p:nvSpPr>
          <p:cNvPr id="15" name="Text 12"/>
          <p:cNvSpPr txBox="1"/>
          <p:nvPr/>
        </p:nvSpPr>
        <p:spPr>
          <a:xfrm>
            <a:off x="4846320" y="2944368"/>
            <a:ext cx="329184" cy="329184"/>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16" name="Text 13"/>
          <p:cNvSpPr txBox="1"/>
          <p:nvPr/>
        </p:nvSpPr>
        <p:spPr>
          <a:xfrm>
            <a:off x="5303520" y="2926080"/>
            <a:ext cx="3383280" cy="594360"/>
          </a:xfrm>
          <a:prstGeom prst="rect">
            <a:avLst/>
          </a:prstGeom>
          <a:noFill/>
          <a:ln/>
        </p:spPr>
        <p:txBody>
          <a:bodyPr wrap="square" lIns="0" tIns="0" rIns="0" bIns="0" rtlCol="0" anchor="t"/>
          <a:lstStyle/>
          <a:p>
            <a:pPr marL="0" indent="0">
              <a:buNone/>
            </a:pPr>
            <a:r>
              <a:rPr lang="en-US" sz="1400" b="1" dirty="0">
                <a:solidFill>
                  <a:schemeClr val="tx1"/>
                </a:solidFill>
              </a:rPr>
              <a:t>Bleed-through + grain</a:t>
            </a:r>
            <a:endParaRPr lang="en-US" sz="1400" dirty="0"/>
          </a:p>
          <a:p>
            <a:pPr marL="0" indent="0">
              <a:buNone/>
            </a:pPr>
            <a:r>
              <a:rPr lang="en-US" sz="1200" dirty="0">
                <a:solidFill>
                  <a:schemeClr val="tx2"/>
                </a:solidFill>
              </a:rPr>
              <a:t>Pixels above (80th percentile − 15) → white; bilateral filter d = 7 → enhanced_gray</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846320" y="3639312"/>
          <a:ext cx="384048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tblGrid>
              <a:tr h="201168">
                <a:tc>
                  <a:txBody>
                    <a:bodyPr/>
                    <a:lstStyle/>
                    <a:p>
                      <a:pPr marL="0" indent="0">
                        <a:buNone/>
                      </a:pPr>
                      <a:r>
                        <a:rPr lang="en-US" sz="1200" b="1" dirty="0">
                          <a:solidFill>
                            <a:schemeClr val="bg1"/>
                          </a:solidFill>
                        </a:rPr>
                        <a:t>EasyOCR input</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CER</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201168">
                <a:tc>
                  <a:txBody>
                    <a:bodyPr/>
                    <a:lstStyle/>
                    <a:p>
                      <a:pPr marL="0" indent="0">
                        <a:buNone/>
                      </a:pPr>
                      <a:r>
                        <a:rPr lang="en-US" sz="1100" dirty="0">
                          <a:solidFill>
                            <a:schemeClr val="tx1"/>
                          </a:solidFill>
                        </a:rPr>
                        <a:t>Raw photo</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50.0%</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1"/>
                  </a:ext>
                </a:extLst>
              </a:tr>
              <a:tr h="201168">
                <a:tc>
                  <a:txBody>
                    <a:bodyPr/>
                    <a:lstStyle/>
                    <a:p>
                      <a:pPr marL="0" indent="0">
                        <a:buNone/>
                      </a:pPr>
                      <a:r>
                        <a:rPr lang="en-US" sz="1100" dirty="0">
                          <a:solidFill>
                            <a:schemeClr val="tx1"/>
                          </a:solidFill>
                        </a:rPr>
                        <a:t>clahe_bgr</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40.5%</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2"/>
                  </a:ext>
                </a:extLst>
              </a:tr>
              <a:tr h="201168">
                <a:tc>
                  <a:txBody>
                    <a:bodyPr/>
                    <a:lstStyle/>
                    <a:p>
                      <a:pPr marL="0" indent="0">
                        <a:buNone/>
                      </a:pPr>
                      <a:r>
                        <a:rPr lang="en-US" sz="1100" dirty="0">
                          <a:solidFill>
                            <a:schemeClr val="tx1"/>
                          </a:solidFill>
                        </a:rPr>
                        <a:t>enhanced_gray</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42.9%</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Stages 5–6 – Ruled lines and binarisation</a:t>
            </a:r>
            <a:endParaRPr lang="en-US" sz="2800" dirty="0"/>
          </a:p>
        </p:txBody>
      </p:sp>
      <p:sp>
        <p:nvSpPr>
          <p:cNvPr id="3" name="Text 1"/>
          <p:cNvSpPr txBox="1"/>
          <p:nvPr/>
        </p:nvSpPr>
        <p:spPr>
          <a:xfrm>
            <a:off x="457200" y="1005840"/>
            <a:ext cx="4114800" cy="1143000"/>
          </a:xfrm>
          <a:prstGeom prst="rect">
            <a:avLst/>
          </a:prstGeom>
          <a:noFill/>
          <a:ln/>
        </p:spPr>
        <p:txBody>
          <a:bodyPr wrap="square" lIns="0" tIns="0" rIns="0" bIns="0" rtlCol="0" anchor="t"/>
          <a:lstStyle/>
          <a:p>
            <a:pPr marL="0" indent="0">
              <a:buNone/>
            </a:pPr>
            <a:r>
              <a:rPr lang="en-US" sz="1400" b="1" dirty="0">
                <a:solidFill>
                  <a:schemeClr val="tx1"/>
                </a:solidFill>
              </a:rPr>
              <a:t>Ruled-line suppression (--remove-lines)</a:t>
            </a:r>
            <a:endParaRPr lang="en-US" sz="1400" dirty="0"/>
          </a:p>
          <a:p>
            <a:pPr marL="0" indent="0">
              <a:buNone/>
            </a:pPr>
            <a:r>
              <a:rPr lang="en-US" sz="1200" dirty="0">
                <a:solidFill>
                  <a:schemeClr val="tx2"/>
                </a:solidFill>
              </a:rPr>
              <a:t>Opening with a max(W/30, 25) × 1 px horizontal element keeps only long horizontal runs; mask grown 1 px and painted with local paper value; applied only if mask covers 0.3–15% of the page. On the test page: 42.9% → 46.8% CER, so it is off by default</a:t>
            </a:r>
            <a:endParaRPr lang="en-US" sz="1400" dirty="0"/>
          </a:p>
        </p:txBody>
      </p:sp>
      <p:sp>
        <p:nvSpPr>
          <p:cNvPr id="4" name="Text 2"/>
          <p:cNvSpPr txBox="1"/>
          <p:nvPr/>
        </p:nvSpPr>
        <p:spPr>
          <a:xfrm>
            <a:off x="457200" y="2240280"/>
            <a:ext cx="4114800" cy="640080"/>
          </a:xfrm>
          <a:prstGeom prst="rect">
            <a:avLst/>
          </a:prstGeom>
          <a:noFill/>
          <a:ln/>
        </p:spPr>
        <p:txBody>
          <a:bodyPr wrap="square" lIns="0" tIns="0" rIns="0" bIns="0" rtlCol="0" anchor="t"/>
          <a:lstStyle/>
          <a:p>
            <a:pPr marL="0" indent="0">
              <a:buNone/>
            </a:pPr>
            <a:r>
              <a:rPr lang="en-US" sz="1400" b="1" dirty="0">
                <a:solidFill>
                  <a:schemeClr val="tx1"/>
                </a:solidFill>
              </a:rPr>
              <a:t>Sauvola local threshold</a:t>
            </a:r>
            <a:endParaRPr lang="en-US" sz="1400" dirty="0"/>
          </a:p>
          <a:p>
            <a:pPr marL="0" indent="0">
              <a:buNone/>
            </a:pPr>
            <a:r>
              <a:rPr lang="en-US" sz="1200" dirty="0">
                <a:solidFill>
                  <a:schemeClr val="tx2"/>
                </a:solidFill>
              </a:rPr>
              <a:t>Window 25 × 25, k = 0.22, R = 128; m and s from two box filters (≈ 16 ms per page)</a:t>
            </a:r>
            <a:endParaRPr lang="en-US" sz="1400" dirty="0"/>
          </a:p>
        </p:txBody>
      </p:sp>
      <p:sp>
        <p:nvSpPr>
          <p:cNvPr id="5" name="sauvola-formula"/>
          <p:cNvSpPr/>
          <p:nvPr/>
        </p:nvSpPr>
        <p:spPr>
          <a:xfrm>
            <a:off x="457200" y="2926080"/>
            <a:ext cx="4114800" cy="502920"/>
          </a:xfrm>
          <a:prstGeom prst="roundRect">
            <a:avLst>
              <a:gd name="adj" fmla="val 14545"/>
            </a:avLst>
          </a:prstGeom>
          <a:solidFill>
            <a:schemeClr val="bg2"/>
          </a:solidFill>
          <a:ln/>
        </p:spPr>
      </p:sp>
      <p:sp>
        <p:nvSpPr>
          <p:cNvPr id="6" name="Text 4"/>
          <p:cNvSpPr txBox="1"/>
          <p:nvPr/>
        </p:nvSpPr>
        <p:spPr>
          <a:xfrm>
            <a:off x="594360" y="2926080"/>
            <a:ext cx="3840480" cy="502920"/>
          </a:xfrm>
          <a:prstGeom prst="rect">
            <a:avLst/>
          </a:prstGeom>
          <a:noFill/>
          <a:ln/>
        </p:spPr>
        <p:txBody>
          <a:bodyPr wrap="square" lIns="0" tIns="0" rIns="0" bIns="0" rtlCol="0" anchor="ctr"/>
          <a:lstStyle/>
          <a:p>
            <a:pPr marL="0" indent="0">
              <a:buNone/>
            </a:pPr>
            <a:r>
              <a:rPr lang="en-US" sz="1600" dirty="0">
                <a:solidFill>
                  <a:schemeClr val="tx1"/>
                </a:solidFill>
                <a:latin typeface="Cambria" pitchFamily="34" charset="0"/>
                <a:ea typeface="Cambria" pitchFamily="34" charset="-122"/>
                <a:cs typeface="Cambria" pitchFamily="34" charset="-120"/>
              </a:rPr>
              <a:t>T(x,y) = m · [1 + k (s / R − 1)]</a:t>
            </a:r>
            <a:endParaRPr lang="en-US" sz="1600" dirty="0"/>
          </a:p>
        </p:txBody>
      </p:sp>
      <p:sp>
        <p:nvSpPr>
          <p:cNvPr id="7" name="Text 5"/>
          <p:cNvSpPr txBox="1"/>
          <p:nvPr/>
        </p:nvSpPr>
        <p:spPr>
          <a:xfrm>
            <a:off x="457200" y="3566160"/>
            <a:ext cx="4114800" cy="822960"/>
          </a:xfrm>
          <a:prstGeom prst="rect">
            <a:avLst/>
          </a:prstGeom>
          <a:noFill/>
          <a:ln/>
        </p:spPr>
        <p:txBody>
          <a:bodyPr wrap="square" lIns="0" tIns="0" rIns="0" bIns="0" rtlCol="0" anchor="t"/>
          <a:lstStyle/>
          <a:p>
            <a:pPr marL="0" indent="0">
              <a:buNone/>
            </a:pPr>
            <a:r>
              <a:rPr lang="en-US" sz="1400" b="1" dirty="0">
                <a:solidFill>
                  <a:schemeClr val="tx1"/>
                </a:solidFill>
              </a:rPr>
              <a:t>Other variants</a:t>
            </a:r>
            <a:endParaRPr lang="en-US" sz="1400" dirty="0"/>
          </a:p>
          <a:p>
            <a:pPr marL="0" indent="0">
              <a:buNone/>
            </a:pPr>
            <a:r>
              <a:rPr lang="en-US" sz="1200" dirty="0">
                <a:solidFill>
                  <a:schemeClr val="tx2"/>
                </a:solidFill>
              </a:rPr>
              <a:t>Adaptive Gaussian (block 31, C = 10); stroke reconnection by 3×3 elliptical closing of the Sauvola image</a:t>
            </a:r>
            <a:endParaRPr lang="en-US" sz="1400" dirty="0"/>
          </a:p>
        </p:txBody>
      </p:sp>
      <p:sp>
        <p:nvSpPr>
          <p:cNvPr id="8" name="Text 6"/>
          <p:cNvSpPr txBox="1"/>
          <p:nvPr/>
        </p:nvSpPr>
        <p:spPr>
          <a:xfrm>
            <a:off x="4846320" y="1005840"/>
            <a:ext cx="3840480" cy="274320"/>
          </a:xfrm>
          <a:prstGeom prst="rect">
            <a:avLst/>
          </a:prstGeom>
          <a:noFill/>
          <a:ln/>
        </p:spPr>
        <p:txBody>
          <a:bodyPr wrap="square" lIns="0" tIns="0" rIns="0" bIns="0" rtlCol="0" anchor="ctr"/>
          <a:lstStyle/>
          <a:p>
            <a:pPr marL="0" indent="0">
              <a:buNone/>
            </a:pPr>
            <a:r>
              <a:rPr lang="en-US" sz="1400" b="1" dirty="0">
                <a:solidFill>
                  <a:schemeClr val="tx1"/>
                </a:solidFill>
              </a:rPr>
              <a:t>Image versions and the engine that reads them</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846320" y="1325880"/>
          <a:ext cx="3840480" cy="914400"/>
        </p:xfrm>
        <a:graphic>
          <a:graphicData uri="http://schemas.openxmlformats.org/drawingml/2006/table">
            <a:tbl>
              <a:tblPr/>
              <a:tblGrid>
                <a:gridCol w="15544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292608">
                <a:tc>
                  <a:txBody>
                    <a:bodyPr/>
                    <a:lstStyle/>
                    <a:p>
                      <a:pPr marL="0" indent="0">
                        <a:buNone/>
                      </a:pPr>
                      <a:r>
                        <a:rPr lang="en-US" sz="1200" b="1" dirty="0">
                          <a:solidFill>
                            <a:schemeClr val="bg1"/>
                          </a:solidFill>
                        </a:rPr>
                        <a:t>Version</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Read by</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CER (best)</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292608">
                <a:tc>
                  <a:txBody>
                    <a:bodyPr/>
                    <a:lstStyle/>
                    <a:p>
                      <a:pPr marL="0" indent="0">
                        <a:buNone/>
                      </a:pPr>
                      <a:r>
                        <a:rPr lang="en-US" sz="1200" dirty="0">
                          <a:solidFill>
                            <a:schemeClr val="tx1"/>
                          </a:solidFill>
                        </a:rPr>
                        <a:t>clahe_bgr</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EasyOCR</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40.5%</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200" dirty="0">
                          <a:solidFill>
                            <a:schemeClr val="tx1"/>
                          </a:solidFill>
                        </a:rPr>
                        <a:t>enhanced_gray</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EasyOCR, Tesseract</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42.9%</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200" dirty="0">
                          <a:solidFill>
                            <a:schemeClr val="tx1"/>
                          </a:solidFill>
                        </a:rPr>
                        <a:t>sauvola</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Tesseract</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72.2%</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200" dirty="0">
                          <a:solidFill>
                            <a:schemeClr val="tx1"/>
                          </a:solidFill>
                        </a:rPr>
                        <a:t>adaptive_gaussian</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Tesseract</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130.2%</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4"/>
                  </a:ext>
                </a:extLst>
              </a:tr>
              <a:tr h="292608">
                <a:tc>
                  <a:txBody>
                    <a:bodyPr/>
                    <a:lstStyle/>
                    <a:p>
                      <a:pPr marL="0" indent="0">
                        <a:buNone/>
                      </a:pPr>
                      <a:r>
                        <a:rPr lang="en-US" sz="1200" dirty="0">
                          <a:solidFill>
                            <a:schemeClr val="tx1"/>
                          </a:solidFill>
                        </a:rPr>
                        <a:t>stroke_reconnected</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Tesseract</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111.9%</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Text 7"/>
          <p:cNvSpPr txBox="1"/>
          <p:nvPr/>
        </p:nvSpPr>
        <p:spPr>
          <a:xfrm>
            <a:off x="4846320" y="3246120"/>
            <a:ext cx="3840480" cy="731520"/>
          </a:xfrm>
          <a:prstGeom prst="rect">
            <a:avLst/>
          </a:prstGeom>
          <a:noFill/>
          <a:ln/>
        </p:spPr>
        <p:txBody>
          <a:bodyPr wrap="square" lIns="0" tIns="0" rIns="0" bIns="0" rtlCol="0" anchor="t"/>
          <a:lstStyle/>
          <a:p>
            <a:pPr marL="0" indent="0">
              <a:buNone/>
            </a:pPr>
            <a:r>
              <a:rPr lang="en-US" sz="1200" dirty="0">
                <a:solidFill>
                  <a:schemeClr val="tx2"/>
                </a:solidFill>
              </a:rPr>
              <a:t>Sauvola given to EasyOCR: 67.5% CER, so binary versions are read only by Tesseract. Values above 100% mean many extra inserted fragments.</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Stage 7 – Recognition and candidate selection</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274320">
                <a:tc>
                  <a:txBody>
                    <a:bodyPr/>
                    <a:lstStyle/>
                    <a:p>
                      <a:pPr marL="0" indent="0">
                        <a:buNone/>
                      </a:pP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EasyOCR (default)</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Tesseract 5 (fallback)</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274320">
                <a:tc>
                  <a:txBody>
                    <a:bodyPr/>
                    <a:lstStyle/>
                    <a:p>
                      <a:pPr marL="0" indent="0">
                        <a:buNone/>
                      </a:pPr>
                      <a:r>
                        <a:rPr lang="en-US" sz="1200" b="1" dirty="0">
                          <a:solidFill>
                            <a:schemeClr val="tx1"/>
                          </a:solidFill>
                        </a:rPr>
                        <a:t>Detection</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CRAFT: character and affinity maps</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Layout analysis (PSM)</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1200" b="1" dirty="0">
                          <a:solidFill>
                            <a:schemeClr val="tx1"/>
                          </a:solidFill>
                        </a:rPr>
                        <a:t>Recognition</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CRNN (CNN + BiLSTM), CTC decoding</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LSTM line recogniser (--oem 3)</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1200" b="1" dirty="0">
                          <a:solidFill>
                            <a:schemeClr val="tx1"/>
                          </a:solidFill>
                        </a:rPr>
                        <a:t>Inputs</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clahe_bgr, enhanced_gray</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4 versions × PSM 6, 11, 4, 3 = 16 runs</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1200" b="1" dirty="0">
                          <a:solidFill>
                            <a:schemeClr val="tx1"/>
                          </a:solidFill>
                        </a:rPr>
                        <a:t>When used</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auto / easyocr modes</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if EasyOCR is missing, or --engine tesseract</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buNone/>
                      </a:pPr>
                      <a:r>
                        <a:rPr lang="en-US" sz="1200" b="1" dirty="0">
                          <a:solidFill>
                            <a:schemeClr val="tx1"/>
                          </a:solidFill>
                        </a:rPr>
                        <a:t>Best CER, test page</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40.5%</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72.2%</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grouping-card"/>
          <p:cNvSpPr/>
          <p:nvPr/>
        </p:nvSpPr>
        <p:spPr>
          <a:xfrm>
            <a:off x="457200" y="2834640"/>
            <a:ext cx="3977640" cy="1463040"/>
          </a:xfrm>
          <a:prstGeom prst="roundRect">
            <a:avLst>
              <a:gd name="adj" fmla="val 5000"/>
            </a:avLst>
          </a:prstGeom>
          <a:solidFill>
            <a:schemeClr val="bg2"/>
          </a:solidFill>
          <a:ln/>
        </p:spPr>
      </p:sp>
      <p:sp>
        <p:nvSpPr>
          <p:cNvPr id="5" name="Text 2"/>
          <p:cNvSpPr txBox="1"/>
          <p:nvPr/>
        </p:nvSpPr>
        <p:spPr>
          <a:xfrm>
            <a:off x="621792" y="2926080"/>
            <a:ext cx="3657600" cy="1325880"/>
          </a:xfrm>
          <a:prstGeom prst="rect">
            <a:avLst/>
          </a:prstGeom>
          <a:noFill/>
          <a:ln/>
        </p:spPr>
        <p:txBody>
          <a:bodyPr wrap="square" lIns="0" tIns="0" rIns="0" bIns="0" rtlCol="0" anchor="t"/>
          <a:lstStyle/>
          <a:p>
            <a:pPr marL="0" indent="0">
              <a:buNone/>
            </a:pPr>
            <a:r>
              <a:rPr lang="en-US" sz="1400" b="1" dirty="0">
                <a:solidFill>
                  <a:schemeClr val="tx1"/>
                </a:solidFill>
              </a:rPr>
              <a:t>Reading-order reconstruction</a:t>
            </a:r>
            <a:endParaRPr lang="en-US" sz="1400" dirty="0"/>
          </a:p>
          <a:p>
            <a:pPr marL="0" indent="0">
              <a:buNone/>
            </a:pPr>
            <a:r>
              <a:rPr lang="en-US" sz="1200" dirty="0">
                <a:solidFill>
                  <a:schemeClr val="tx2"/>
                </a:solidFill>
              </a:rPr>
              <a:t>EasyOCR boxes sorted by vertical centre; a box joins the current line if within 0.7 × median box height of the line's mean centre; each line sorted left to right</a:t>
            </a:r>
            <a:endParaRPr lang="en-US" sz="1400" dirty="0"/>
          </a:p>
        </p:txBody>
      </p:sp>
      <p:sp>
        <p:nvSpPr>
          <p:cNvPr id="6" name="score-card"/>
          <p:cNvSpPr/>
          <p:nvPr/>
        </p:nvSpPr>
        <p:spPr>
          <a:xfrm>
            <a:off x="4709160" y="2834640"/>
            <a:ext cx="3977640" cy="1463040"/>
          </a:xfrm>
          <a:prstGeom prst="roundRect">
            <a:avLst>
              <a:gd name="adj" fmla="val 5000"/>
            </a:avLst>
          </a:prstGeom>
          <a:solidFill>
            <a:schemeClr val="bg2"/>
          </a:solidFill>
          <a:ln/>
        </p:spPr>
      </p:sp>
      <p:sp>
        <p:nvSpPr>
          <p:cNvPr id="7" name="Text 4"/>
          <p:cNvSpPr txBox="1"/>
          <p:nvPr/>
        </p:nvSpPr>
        <p:spPr>
          <a:xfrm>
            <a:off x="4873752" y="2926080"/>
            <a:ext cx="3657600" cy="1325880"/>
          </a:xfrm>
          <a:prstGeom prst="rect">
            <a:avLst/>
          </a:prstGeom>
          <a:noFill/>
          <a:ln/>
        </p:spPr>
        <p:txBody>
          <a:bodyPr wrap="square" lIns="0" tIns="0" rIns="0" bIns="0" rtlCol="0" anchor="t"/>
          <a:lstStyle/>
          <a:p>
            <a:pPr marL="0" indent="0">
              <a:buNone/>
            </a:pPr>
            <a:r>
              <a:rPr lang="en-US" sz="1400" b="1" dirty="0">
                <a:solidFill>
                  <a:schemeClr val="tx1"/>
                </a:solidFill>
              </a:rPr>
              <a:t>Candidate score</a:t>
            </a:r>
            <a:endParaRPr lang="en-US" sz="1400" dirty="0"/>
          </a:p>
          <a:p>
            <a:pPr marL="0" indent="0">
              <a:buNone/>
            </a:pPr>
            <a:r>
              <a:rPr lang="en-US" sz="1200" dirty="0">
                <a:solidFill>
                  <a:schemeClr val="tx2"/>
                </a:solidFill>
              </a:rPr>
              <a:t>S = 1.5·c̄ + 6·n≥3 − 1.5·n≤2 + 25·r_alnum − 40·r_noise. Test page: clahe_bgr 197.7 vs enhanced_gray 183.0 (CER 40.5% vs 42.9%). Less reliable for Tesseract output</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Stages 8–9 – Post-processing and summarisation</a:t>
            </a:r>
            <a:endParaRPr lang="en-US" sz="2800" dirty="0"/>
          </a:p>
        </p:txBody>
      </p:sp>
      <p:sp>
        <p:nvSpPr>
          <p:cNvPr id="3" name="post-card-0"/>
          <p:cNvSpPr/>
          <p:nvPr/>
        </p:nvSpPr>
        <p:spPr>
          <a:xfrm>
            <a:off x="457200" y="1005840"/>
            <a:ext cx="2606040" cy="1874520"/>
          </a:xfrm>
          <a:prstGeom prst="roundRect">
            <a:avLst>
              <a:gd name="adj" fmla="val 3902"/>
            </a:avLst>
          </a:prstGeom>
          <a:solidFill>
            <a:schemeClr val="bg2"/>
          </a:solidFill>
          <a:ln/>
        </p:spPr>
      </p:sp>
      <p:sp>
        <p:nvSpPr>
          <p:cNvPr id="4" name="Text 2"/>
          <p:cNvSpPr txBox="1"/>
          <p:nvPr/>
        </p:nvSpPr>
        <p:spPr>
          <a:xfrm>
            <a:off x="594360" y="1097280"/>
            <a:ext cx="2331720" cy="1737360"/>
          </a:xfrm>
          <a:prstGeom prst="rect">
            <a:avLst/>
          </a:prstGeom>
          <a:noFill/>
          <a:ln/>
        </p:spPr>
        <p:txBody>
          <a:bodyPr wrap="square" lIns="0" tIns="0" rIns="0" bIns="0" rtlCol="0" anchor="t"/>
          <a:lstStyle/>
          <a:p>
            <a:pPr marL="0" indent="0">
              <a:buNone/>
            </a:pPr>
            <a:r>
              <a:rPr lang="en-US" sz="1400" b="1" dirty="0">
                <a:solidFill>
                  <a:schemeClr val="tx1"/>
                </a:solidFill>
              </a:rPr>
              <a:t>Generic clean-up</a:t>
            </a:r>
            <a:endParaRPr lang="en-US" sz="1400" dirty="0"/>
          </a:p>
          <a:p>
            <a:pPr marL="0" indent="0">
              <a:buNone/>
            </a:pPr>
            <a:r>
              <a:rPr lang="en-US" sz="1200" dirty="0">
                <a:solidFill>
                  <a:schemeClr val="tx2"/>
                </a:solidFill>
              </a:rPr>
              <a:t>Remove “Date/Page/No.” stamp lines; drop a stray first line ≤ 4 characters; remove runs of _ - ~ |; collapse spaces. No word-specific rules</a:t>
            </a:r>
            <a:endParaRPr lang="en-US" sz="1400" dirty="0"/>
          </a:p>
        </p:txBody>
      </p:sp>
      <p:sp>
        <p:nvSpPr>
          <p:cNvPr id="5" name="post-card-1"/>
          <p:cNvSpPr/>
          <p:nvPr/>
        </p:nvSpPr>
        <p:spPr>
          <a:xfrm>
            <a:off x="3268980" y="1005840"/>
            <a:ext cx="2606040" cy="1874520"/>
          </a:xfrm>
          <a:prstGeom prst="roundRect">
            <a:avLst>
              <a:gd name="adj" fmla="val 3902"/>
            </a:avLst>
          </a:prstGeom>
          <a:solidFill>
            <a:schemeClr val="bg2"/>
          </a:solidFill>
          <a:ln/>
        </p:spPr>
      </p:sp>
      <p:sp>
        <p:nvSpPr>
          <p:cNvPr id="6" name="Text 4"/>
          <p:cNvSpPr txBox="1"/>
          <p:nvPr/>
        </p:nvSpPr>
        <p:spPr>
          <a:xfrm>
            <a:off x="3406140" y="1097280"/>
            <a:ext cx="2331720" cy="1737360"/>
          </a:xfrm>
          <a:prstGeom prst="rect">
            <a:avLst/>
          </a:prstGeom>
          <a:noFill/>
          <a:ln/>
        </p:spPr>
        <p:txBody>
          <a:bodyPr wrap="square" lIns="0" tIns="0" rIns="0" bIns="0" rtlCol="0" anchor="t"/>
          <a:lstStyle/>
          <a:p>
            <a:pPr marL="0" indent="0">
              <a:buNone/>
            </a:pPr>
            <a:r>
              <a:rPr lang="en-US" sz="1400" b="1" dirty="0">
                <a:solidFill>
                  <a:schemeClr val="tx1"/>
                </a:solidFill>
              </a:rPr>
              <a:t>Lexicon matching (--lexicon)</a:t>
            </a:r>
            <a:endParaRPr lang="en-US" sz="1400" dirty="0"/>
          </a:p>
          <a:p>
            <a:pPr marL="0" indent="0">
              <a:buNone/>
            </a:pPr>
            <a:r>
              <a:rPr lang="en-US" sz="1200" dirty="0">
                <a:solidFill>
                  <a:schemeClr val="tx2"/>
                </a:solidFill>
              </a:rPr>
              <a:t>Tokens ≥ 4 letters not in the vocabulary: undo confusions (0→o, 1/|→l, 5→s, leading ( → c), replace with closest word if sim = 2M/(|a|+|b|) ≥ 0.65; every change printed</a:t>
            </a:r>
            <a:endParaRPr lang="en-US" sz="1400" dirty="0"/>
          </a:p>
        </p:txBody>
      </p:sp>
      <p:sp>
        <p:nvSpPr>
          <p:cNvPr id="7" name="post-card-2"/>
          <p:cNvSpPr/>
          <p:nvPr/>
        </p:nvSpPr>
        <p:spPr>
          <a:xfrm>
            <a:off x="6080760" y="1005840"/>
            <a:ext cx="2606040" cy="1874520"/>
          </a:xfrm>
          <a:prstGeom prst="roundRect">
            <a:avLst>
              <a:gd name="adj" fmla="val 3902"/>
            </a:avLst>
          </a:prstGeom>
          <a:solidFill>
            <a:schemeClr val="bg2"/>
          </a:solidFill>
          <a:ln/>
        </p:spPr>
      </p:sp>
      <p:sp>
        <p:nvSpPr>
          <p:cNvPr id="8" name="Text 6"/>
          <p:cNvSpPr txBox="1"/>
          <p:nvPr/>
        </p:nvSpPr>
        <p:spPr>
          <a:xfrm>
            <a:off x="6217920" y="1097280"/>
            <a:ext cx="2331720" cy="1737360"/>
          </a:xfrm>
          <a:prstGeom prst="rect">
            <a:avLst/>
          </a:prstGeom>
          <a:noFill/>
          <a:ln/>
        </p:spPr>
        <p:txBody>
          <a:bodyPr wrap="square" lIns="0" tIns="0" rIns="0" bIns="0" rtlCol="0" anchor="t"/>
          <a:lstStyle/>
          <a:p>
            <a:pPr marL="0" indent="0">
              <a:buNone/>
            </a:pPr>
            <a:r>
              <a:rPr lang="en-US" sz="1400" b="1" dirty="0">
                <a:solidFill>
                  <a:schemeClr val="tx1"/>
                </a:solidFill>
              </a:rPr>
              <a:t>TextRank (--summarize)</a:t>
            </a:r>
            <a:endParaRPr lang="en-US" sz="1400" dirty="0"/>
          </a:p>
          <a:p>
            <a:pPr marL="0" indent="0">
              <a:buNone/>
            </a:pPr>
            <a:r>
              <a:rPr lang="en-US" sz="1200" dirty="0">
                <a:solidFill>
                  <a:schemeClr val="tx2"/>
                </a:solidFill>
              </a:rPr>
              <a:t>Split at . ! ? and line breaks; TF-IDF vectors (English stop-words removed); cosine-similarity graph; PageRank d = 0.85; top k sentences in original order</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3017520"/>
          <a:ext cx="493776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256032">
                <a:tc>
                  <a:txBody>
                    <a:bodyPr/>
                    <a:lstStyle/>
                    <a:p>
                      <a:pPr marL="0" indent="0">
                        <a:buNone/>
                      </a:pPr>
                      <a:r>
                        <a:rPr lang="en-US" sz="1200" b="1" dirty="0">
                          <a:solidFill>
                            <a:schemeClr val="bg1"/>
                          </a:solidFill>
                        </a:rPr>
                        <a:t>OCR token</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Replaced by</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Similarity</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Outcome</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256032">
                <a:tc>
                  <a:txBody>
                    <a:bodyPr/>
                    <a:lstStyle/>
                    <a:p>
                      <a:pPr marL="0" indent="0">
                        <a:buNone/>
                      </a:pPr>
                      <a:r>
                        <a:rPr lang="en-US" sz="1200" dirty="0">
                          <a:solidFill>
                            <a:schemeClr val="tx1"/>
                          </a:solidFill>
                        </a:rPr>
                        <a:t>covity</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cavity</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0.83</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correct</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1200" dirty="0">
                          <a:solidFill>
                            <a:schemeClr val="tx1"/>
                          </a:solidFill>
                        </a:rPr>
                        <a:t>looth</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tooth</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0.80</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correct</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200" dirty="0">
                          <a:solidFill>
                            <a:schemeClr val="tx1"/>
                          </a:solidFill>
                        </a:rPr>
                        <a:t>Pable</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palate</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0.73</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incorrect (problem)</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5623560" y="3017520"/>
          <a:ext cx="3063240" cy="914400"/>
        </p:xfrm>
        <a:graphic>
          <a:graphicData uri="http://schemas.openxmlformats.org/drawingml/2006/table">
            <a:tbl>
              <a:tblPr/>
              <a:tblGrid>
                <a:gridCol w="160020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256032">
                <a:tc>
                  <a:txBody>
                    <a:bodyPr/>
                    <a:lstStyle/>
                    <a:p>
                      <a:pPr marL="0" indent="0">
                        <a:buNone/>
                      </a:pPr>
                      <a:r>
                        <a:rPr lang="en-US" sz="1200" b="1" dirty="0">
                          <a:solidFill>
                            <a:schemeClr val="bg1"/>
                          </a:solidFill>
                        </a:rPr>
                        <a:t>Text</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CER</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WER</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256032">
                <a:tc>
                  <a:txBody>
                    <a:bodyPr/>
                    <a:lstStyle/>
                    <a:p>
                      <a:pPr marL="0" indent="0">
                        <a:buNone/>
                      </a:pPr>
                      <a:r>
                        <a:rPr lang="en-US" sz="1200" dirty="0">
                          <a:solidFill>
                            <a:schemeClr val="tx1"/>
                          </a:solidFill>
                        </a:rPr>
                        <a:t>Raw engine output</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40.5%</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105.0%</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1200" dirty="0">
                          <a:solidFill>
                            <a:schemeClr val="tx1"/>
                          </a:solidFill>
                        </a:rPr>
                        <a:t>After clean-up</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40.5%</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100.0%</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200" dirty="0">
                          <a:solidFill>
                            <a:schemeClr val="tx1"/>
                          </a:solidFill>
                        </a:rPr>
                        <a:t>After lexicon</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34.9%</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85.0%</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Text 7"/>
          <p:cNvSpPr txBox="1"/>
          <p:nvPr/>
        </p:nvSpPr>
        <p:spPr>
          <a:xfrm>
            <a:off x="457200" y="4114800"/>
            <a:ext cx="8229600" cy="457200"/>
          </a:xfrm>
          <a:prstGeom prst="rect">
            <a:avLst/>
          </a:prstGeom>
          <a:noFill/>
          <a:ln/>
        </p:spPr>
        <p:txBody>
          <a:bodyPr wrap="square" lIns="0" tIns="0" rIns="0" bIns="0" rtlCol="0" anchor="ctr"/>
          <a:lstStyle/>
          <a:p>
            <a:pPr marL="0" indent="0">
              <a:buNone/>
            </a:pPr>
            <a:r>
              <a:rPr lang="en-US" sz="1200" i="1" dirty="0">
                <a:solidFill>
                  <a:schemeClr val="tx2"/>
                </a:solidFill>
              </a:rPr>
              <a:t>Lexicon on the test page: 8 replacements, 6 correct and 2 incorrect. An earlier table of ~50 photo-specific substitutions (5.6% CER on this photo only) was removed.</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Evaluation method</a:t>
            </a:r>
            <a:endParaRPr lang="en-US" sz="2800" dirty="0"/>
          </a:p>
        </p:txBody>
      </p:sp>
      <p:sp>
        <p:nvSpPr>
          <p:cNvPr id="3" name="cer-formula"/>
          <p:cNvSpPr/>
          <p:nvPr/>
        </p:nvSpPr>
        <p:spPr>
          <a:xfrm>
            <a:off x="457200" y="1005840"/>
            <a:ext cx="3931920" cy="914400"/>
          </a:xfrm>
          <a:prstGeom prst="roundRect">
            <a:avLst>
              <a:gd name="adj" fmla="val 8000"/>
            </a:avLst>
          </a:prstGeom>
          <a:solidFill>
            <a:schemeClr val="bg2"/>
          </a:solidFill>
          <a:ln/>
        </p:spPr>
      </p:sp>
      <p:sp>
        <p:nvSpPr>
          <p:cNvPr id="4" name="Text 2"/>
          <p:cNvSpPr txBox="1"/>
          <p:nvPr/>
        </p:nvSpPr>
        <p:spPr>
          <a:xfrm>
            <a:off x="594360" y="1005840"/>
            <a:ext cx="3657600" cy="914400"/>
          </a:xfrm>
          <a:prstGeom prst="rect">
            <a:avLst/>
          </a:prstGeom>
          <a:noFill/>
          <a:ln/>
        </p:spPr>
        <p:txBody>
          <a:bodyPr wrap="square" lIns="0" tIns="0" rIns="0" bIns="0" rtlCol="0" anchor="ctr"/>
          <a:lstStyle/>
          <a:p>
            <a:pPr marL="0" indent="0">
              <a:buNone/>
            </a:pPr>
            <a:r>
              <a:rPr lang="en-US" sz="1300" dirty="0">
                <a:solidFill>
                  <a:schemeClr val="tx1"/>
                </a:solidFill>
                <a:latin typeface="Cambria" pitchFamily="34" charset="0"/>
                <a:ea typeface="Cambria" pitchFamily="34" charset="-122"/>
                <a:cs typeface="Cambria" pitchFamily="34" charset="-120"/>
              </a:rPr>
              <a:t>CER = character edit distance ÷ reference characters</a:t>
            </a:r>
            <a:endParaRPr lang="en-US" sz="1300" dirty="0"/>
          </a:p>
          <a:p>
            <a:pPr marL="0" indent="0">
              <a:buNone/>
            </a:pPr>
            <a:r>
              <a:rPr lang="en-US" sz="1300" dirty="0">
                <a:solidFill>
                  <a:schemeClr val="tx1"/>
                </a:solidFill>
                <a:latin typeface="Cambria" pitchFamily="34" charset="0"/>
                <a:ea typeface="Cambria" pitchFamily="34" charset="-122"/>
                <a:cs typeface="Cambria" pitchFamily="34" charset="-120"/>
              </a:rPr>
              <a:t>WER = word edit distance ÷ reference words</a:t>
            </a:r>
            <a:endParaRPr lang="en-US" sz="1300" dirty="0"/>
          </a:p>
        </p:txBody>
      </p:sp>
      <p:sp>
        <p:nvSpPr>
          <p:cNvPr id="5" name="Text 3"/>
          <p:cNvSpPr txBox="1"/>
          <p:nvPr/>
        </p:nvSpPr>
        <p:spPr>
          <a:xfrm>
            <a:off x="457200" y="2057400"/>
            <a:ext cx="3931920" cy="822960"/>
          </a:xfrm>
          <a:prstGeom prst="rect">
            <a:avLst/>
          </a:prstGeom>
          <a:noFill/>
          <a:ln/>
        </p:spPr>
        <p:txBody>
          <a:bodyPr wrap="square" lIns="0" tIns="0" rIns="0" bIns="0" rtlCol="0" anchor="t"/>
          <a:lstStyle/>
          <a:p>
            <a:pPr marL="0" indent="0">
              <a:buNone/>
            </a:pPr>
            <a:r>
              <a:rPr lang="en-US" sz="1400" b="1" dirty="0">
                <a:solidFill>
                  <a:schemeClr val="tx1"/>
                </a:solidFill>
              </a:rPr>
              <a:t>Edit distance</a:t>
            </a:r>
            <a:endParaRPr lang="en-US" sz="1400" dirty="0"/>
          </a:p>
          <a:p>
            <a:pPr marL="0" indent="0">
              <a:buNone/>
            </a:pPr>
            <a:r>
              <a:rPr lang="en-US" sz="1200" dirty="0">
                <a:solidFill>
                  <a:schemeClr val="tx2"/>
                </a:solidFill>
              </a:rPr>
              <a:t>Levenshtein distance (substitutions + insertions + deletions) by dynamic programming; texts lower-cased and whitespace collapsed first</a:t>
            </a:r>
            <a:endParaRPr lang="en-US" sz="1400" dirty="0"/>
          </a:p>
        </p:txBody>
      </p:sp>
      <p:sp>
        <p:nvSpPr>
          <p:cNvPr id="6" name="Text 4"/>
          <p:cNvSpPr txBox="1"/>
          <p:nvPr/>
        </p:nvSpPr>
        <p:spPr>
          <a:xfrm>
            <a:off x="457200" y="2880360"/>
            <a:ext cx="3931920" cy="822960"/>
          </a:xfrm>
          <a:prstGeom prst="rect">
            <a:avLst/>
          </a:prstGeom>
          <a:noFill/>
          <a:ln/>
        </p:spPr>
        <p:txBody>
          <a:bodyPr wrap="square" lIns="0" tIns="0" rIns="0" bIns="0" rtlCol="0" anchor="t"/>
          <a:lstStyle/>
          <a:p>
            <a:pPr marL="0" indent="0">
              <a:buNone/>
            </a:pPr>
            <a:r>
              <a:rPr lang="en-US" sz="1400" b="1" dirty="0">
                <a:solidFill>
                  <a:schemeClr val="tx1"/>
                </a:solidFill>
              </a:rPr>
              <a:t>Example</a:t>
            </a:r>
            <a:endParaRPr lang="en-US" sz="1400" dirty="0"/>
          </a:p>
          <a:p>
            <a:pPr marL="0" indent="0">
              <a:buNone/>
            </a:pPr>
            <a:r>
              <a:rPr lang="en-US" sz="1200" dirty="0">
                <a:solidFill>
                  <a:schemeClr val="tx2"/>
                </a:solidFill>
              </a:rPr>
              <a:t>“looth jums” vs “tooth gums”: 2 edits ÷ 10 characters = 20% CER, but 2 ÷ 2 words = 100% WER, so CER is the main measure</a:t>
            </a:r>
            <a:endParaRPr lang="en-US" sz="1400" dirty="0"/>
          </a:p>
        </p:txBody>
      </p:sp>
      <p:sp>
        <p:nvSpPr>
          <p:cNvPr id="7" name="Text 5"/>
          <p:cNvSpPr txBox="1"/>
          <p:nvPr/>
        </p:nvSpPr>
        <p:spPr>
          <a:xfrm>
            <a:off x="457200" y="3703320"/>
            <a:ext cx="3931920" cy="731520"/>
          </a:xfrm>
          <a:prstGeom prst="rect">
            <a:avLst/>
          </a:prstGeom>
          <a:noFill/>
          <a:ln/>
        </p:spPr>
        <p:txBody>
          <a:bodyPr wrap="square" lIns="0" tIns="0" rIns="0" bIns="0" rtlCol="0" anchor="t"/>
          <a:lstStyle/>
          <a:p>
            <a:pPr marL="0" indent="0">
              <a:buNone/>
            </a:pPr>
            <a:r>
              <a:rPr lang="en-US" sz="1400" b="1" dirty="0">
                <a:solidFill>
                  <a:schemeClr val="tx1"/>
                </a:solidFill>
              </a:rPr>
              <a:t>Ground truth</a:t>
            </a:r>
            <a:endParaRPr lang="en-US" sz="1400" dirty="0"/>
          </a:p>
          <a:p>
            <a:pPr marL="0" indent="0">
              <a:buNone/>
            </a:pPr>
            <a:r>
              <a:rPr lang="en-US" sz="1200" dirty="0">
                <a:solidFill>
                  <a:schemeClr val="tx2"/>
                </a:solidFill>
              </a:rPr>
              <a:t>handwrite_gt.txt: 126 characters, 20 words; bullet arrows not transcribed; --ground-truth prints both metrics</a:t>
            </a:r>
            <a:endParaRPr lang="en-US" sz="1400" dirty="0"/>
          </a:p>
        </p:txBody>
      </p:sp>
      <p:sp>
        <p:nvSpPr>
          <p:cNvPr id="8" name="Text 6"/>
          <p:cNvSpPr txBox="1"/>
          <p:nvPr/>
        </p:nvSpPr>
        <p:spPr>
          <a:xfrm>
            <a:off x="4663440" y="1005840"/>
            <a:ext cx="4023360" cy="274320"/>
          </a:xfrm>
          <a:prstGeom prst="rect">
            <a:avLst/>
          </a:prstGeom>
          <a:noFill/>
          <a:ln/>
        </p:spPr>
        <p:txBody>
          <a:bodyPr wrap="square" lIns="0" tIns="0" rIns="0" bIns="0" rtlCol="0" anchor="ctr"/>
          <a:lstStyle/>
          <a:p>
            <a:pPr marL="0" indent="0">
              <a:buNone/>
            </a:pPr>
            <a:r>
              <a:rPr lang="en-US" sz="1400" b="1" dirty="0">
                <a:solidFill>
                  <a:schemeClr val="tx1"/>
                </a:solidFill>
              </a:rPr>
              <a:t>Test set: the real photo + six controlled copies</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663440" y="1325880"/>
          <a:ext cx="402336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329184">
                <a:tc>
                  <a:txBody>
                    <a:bodyPr/>
                    <a:lstStyle/>
                    <a:p>
                      <a:pPr marL="0" indent="0">
                        <a:buNone/>
                      </a:pPr>
                      <a:r>
                        <a:rPr lang="en-US" sz="1200" b="1" dirty="0">
                          <a:solidFill>
                            <a:schemeClr val="bg1"/>
                          </a:solidFill>
                        </a:rPr>
                        <a:t>Condition</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How it was made</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29184">
                <a:tc>
                  <a:txBody>
                    <a:bodyPr/>
                    <a:lstStyle/>
                    <a:p>
                      <a:pPr marL="0" indent="0">
                        <a:buNone/>
                      </a:pPr>
                      <a:r>
                        <a:rPr lang="en-US" sz="1200" dirty="0">
                          <a:solidFill>
                            <a:schemeClr val="tx1"/>
                          </a:solidFill>
                        </a:rPr>
                        <a:t>Original photo</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Unchanged (re-saved as JPEG)</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200" dirty="0">
                          <a:solidFill>
                            <a:schemeClr val="tx1"/>
                          </a:solidFill>
                        </a:rPr>
                        <a:t>Rotated 4° / 8°</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Rotated on paper-coloured canvas</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200" dirty="0">
                          <a:solidFill>
                            <a:schemeClr val="tx1"/>
                          </a:solidFill>
                        </a:rPr>
                        <a:t>Desk, mild perspective</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Warped onto a dark textured desk</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200" dirty="0">
                          <a:solidFill>
                            <a:schemeClr val="tx1"/>
                          </a:solidFill>
                        </a:rPr>
                        <a:t>Desk, strong perspective</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Same, at a stronger angle</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en-US" sz="1200" dirty="0">
                          <a:solidFill>
                            <a:schemeClr val="tx1"/>
                          </a:solidFill>
                        </a:rPr>
                        <a:t>Side shadow</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Light falls to 45% across the width</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buNone/>
                      </a:pPr>
                      <a:r>
                        <a:rPr lang="en-US" sz="1200" dirty="0">
                          <a:solidFill>
                            <a:schemeClr val="tx1"/>
                          </a:solidFill>
                        </a:rPr>
                        <a:t>Blur + sensor noise</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200" dirty="0">
                          <a:solidFill>
                            <a:schemeClr val="tx1"/>
                          </a:solidFill>
                        </a:rPr>
                        <a:t>Gaussian blur σ = 1.2, noise σ = 12</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 name="Text 7"/>
          <p:cNvSpPr txBox="1"/>
          <p:nvPr/>
        </p:nvSpPr>
        <p:spPr>
          <a:xfrm>
            <a:off x="4663440" y="3749040"/>
            <a:ext cx="4023360" cy="457200"/>
          </a:xfrm>
          <a:prstGeom prst="rect">
            <a:avLst/>
          </a:prstGeom>
          <a:noFill/>
          <a:ln/>
        </p:spPr>
        <p:txBody>
          <a:bodyPr wrap="square" lIns="0" tIns="0" rIns="0" bIns="0" rtlCol="0" anchor="t"/>
          <a:lstStyle/>
          <a:p>
            <a:pPr marL="0" indent="0">
              <a:buNone/>
            </a:pPr>
            <a:r>
              <a:rPr lang="en-US" sz="1200" i="1" dirty="0">
                <a:solidFill>
                  <a:schemeClr val="tx2"/>
                </a:solidFill>
              </a:rPr>
              <a:t>Same ground truth for every copy, so each condition isolates one degradation</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Results – error by capture condition</a:t>
            </a:r>
            <a:endParaRPr lang="en-US" sz="2800" dirty="0"/>
          </a:p>
        </p:txBody>
      </p:sp>
      <p:graphicFrame>
        <p:nvGraphicFramePr>
          <p:cNvPr id="3" name="cer-chart"/>
          <p:cNvGraphicFramePr/>
          <p:nvPr/>
        </p:nvGraphicFramePr>
        <p:xfrm>
          <a:off x="365760" y="960120"/>
          <a:ext cx="548640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6126480" y="1005840"/>
            <a:ext cx="2560320" cy="274320"/>
          </a:xfrm>
          <a:prstGeom prst="rect">
            <a:avLst/>
          </a:prstGeom>
          <a:noFill/>
          <a:ln/>
        </p:spPr>
        <p:txBody>
          <a:bodyPr wrap="square" lIns="0" tIns="0" rIns="0" bIns="0" rtlCol="0" anchor="ctr"/>
          <a:lstStyle/>
          <a:p>
            <a:pPr marL="0" indent="0">
              <a:buNone/>
            </a:pPr>
            <a:r>
              <a:rPr lang="en-US" sz="1400" b="1" dirty="0">
                <a:solidFill>
                  <a:schemeClr val="tx1"/>
                </a:solidFill>
              </a:rPr>
              <a:t>Observations</a:t>
            </a:r>
            <a:endParaRPr lang="en-US" sz="1400" dirty="0"/>
          </a:p>
        </p:txBody>
      </p:sp>
      <p:sp>
        <p:nvSpPr>
          <p:cNvPr id="5" name="Text 2"/>
          <p:cNvSpPr txBox="1"/>
          <p:nvPr/>
        </p:nvSpPr>
        <p:spPr>
          <a:xfrm>
            <a:off x="6126480" y="1325880"/>
            <a:ext cx="2560320"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Pipeline CER 38.1–45.2% across all 7 conditions; direct OCR 46.0–77.8%</a:t>
            </a:r>
            <a:endParaRPr lang="en-US" sz="1200" dirty="0"/>
          </a:p>
          <a:p>
            <a:pPr marL="342900" indent="-342900">
              <a:spcAft>
                <a:spcPts val="600"/>
              </a:spcAft>
              <a:buSzPct val="100000"/>
              <a:buChar char="•"/>
            </a:pPr>
            <a:r>
              <a:rPr lang="en-US" sz="1200" dirty="0">
                <a:solidFill>
                  <a:schemeClr val="tx1"/>
                </a:solidFill>
              </a:rPr>
              <a:t>Largest differences under rotation and perspective, where stages 1–3 act</a:t>
            </a:r>
            <a:endParaRPr lang="en-US" sz="1200" dirty="0"/>
          </a:p>
          <a:p>
            <a:pPr marL="342900" indent="-342900">
              <a:spcAft>
                <a:spcPts val="600"/>
              </a:spcAft>
              <a:buSzPct val="100000"/>
              <a:buChar char="•"/>
            </a:pPr>
            <a:r>
              <a:rPr lang="en-US" sz="1200" dirty="0">
                <a:solidFill>
                  <a:schemeClr val="tx1"/>
                </a:solidFill>
              </a:rPr>
              <a:t>Smallest difference with blur and noise (46.8% → 45.2%)</a:t>
            </a:r>
            <a:endParaRPr lang="en-US" sz="1200" dirty="0"/>
          </a:p>
          <a:p>
            <a:pPr marL="342900" indent="-342900">
              <a:spcAft>
                <a:spcPts val="600"/>
              </a:spcAft>
              <a:buSzPct val="100000"/>
              <a:buChar char="•"/>
            </a:pPr>
            <a:r>
              <a:rPr lang="en-US" sz="1200" dirty="0">
                <a:solidFill>
                  <a:schemeClr val="tx1"/>
                </a:solidFill>
              </a:rPr>
              <a:t>Lexicon lowers CER by a further 3.9–7.1 points</a:t>
            </a:r>
            <a:endParaRPr lang="en-US" sz="1200" dirty="0"/>
          </a:p>
          <a:p>
            <a:pPr marL="342900" indent="-342900">
              <a:spcAft>
                <a:spcPts val="600"/>
              </a:spcAft>
              <a:buSzPct val="100000"/>
              <a:buChar char="•"/>
            </a:pPr>
            <a:r>
              <a:rPr lang="en-US" sz="1200" dirty="0">
                <a:solidFill>
                  <a:schemeClr val="tx1"/>
                </a:solidFill>
              </a:rPr>
              <a:t>One real page and derived copies: indicative, not a benchmark</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Results – ablation on the real photo</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5577840" cy="914400"/>
        </p:xfrm>
        <a:graphic>
          <a:graphicData uri="http://schemas.openxmlformats.org/drawingml/2006/table">
            <a:tbl>
              <a:tblPr/>
              <a:tblGrid>
                <a:gridCol w="132588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274320">
                <a:tc>
                  <a:txBody>
                    <a:bodyPr/>
                    <a:lstStyle/>
                    <a:p>
                      <a:pPr marL="0" indent="0">
                        <a:buNone/>
                      </a:pPr>
                      <a:r>
                        <a:rPr lang="en-US" sz="1200" b="1" dirty="0">
                          <a:solidFill>
                            <a:schemeClr val="bg1"/>
                          </a:solidFill>
                        </a:rPr>
                        <a:t>Engine</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Input image</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CER</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WER</a:t>
                      </a:r>
                      <a:endParaRPr lang="en-US" sz="12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274320">
                <a:tc>
                  <a:txBody>
                    <a:bodyPr/>
                    <a:lstStyle/>
                    <a:p>
                      <a:pPr marL="0" indent="0">
                        <a:buNone/>
                      </a:pPr>
                      <a:r>
                        <a:rPr lang="en-US" sz="1100" dirty="0">
                          <a:solidFill>
                            <a:schemeClr val="tx1"/>
                          </a:solidFill>
                        </a:rPr>
                        <a:t>EasyOCR</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Raw photo, no processing</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50.0%</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100.0%</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1100" dirty="0">
                          <a:solidFill>
                            <a:schemeClr val="tx1"/>
                          </a:solidFill>
                        </a:rPr>
                        <a:t>EasyOCR</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Greyscale only</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50.8%</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100.0%</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1100" dirty="0">
                          <a:solidFill>
                            <a:schemeClr val="tx1"/>
                          </a:solidFill>
                        </a:rPr>
                        <a:t>EasyOCR</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CLAHE in LAB (clahe_bgr)</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40.5%</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105.0%</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1100" dirty="0">
                          <a:solidFill>
                            <a:schemeClr val="tx1"/>
                          </a:solidFill>
                        </a:rPr>
                        <a:t>EasyOCR</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CLAHE + background division (enhanced_gray)</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42.9%</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110.0%</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buNone/>
                      </a:pPr>
                      <a:r>
                        <a:rPr lang="en-US" sz="1100" dirty="0">
                          <a:solidFill>
                            <a:schemeClr val="tx1"/>
                          </a:solidFill>
                        </a:rPr>
                        <a:t>EasyOCR</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enhanced_gray + ruled-line suppression</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46.8%</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115.0%</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marL="0" indent="0">
                        <a:buNone/>
                      </a:pPr>
                      <a:r>
                        <a:rPr lang="en-US" sz="1100" dirty="0">
                          <a:solidFill>
                            <a:schemeClr val="tx1"/>
                          </a:solidFill>
                        </a:rPr>
                        <a:t>EasyOCR</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Sauvola binarisation</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67.5%</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100.0%</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6"/>
                  </a:ext>
                </a:extLst>
              </a:tr>
              <a:tr h="274320">
                <a:tc>
                  <a:txBody>
                    <a:bodyPr/>
                    <a:lstStyle/>
                    <a:p>
                      <a:pPr marL="0" indent="0">
                        <a:buNone/>
                      </a:pPr>
                      <a:r>
                        <a:rPr lang="en-US" sz="1100" dirty="0">
                          <a:solidFill>
                            <a:schemeClr val="tx1"/>
                          </a:solidFill>
                        </a:rPr>
                        <a:t>Tesseract, PSM 6</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Sauvola binarisation</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72.2%</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110.0%</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7"/>
                  </a:ext>
                </a:extLst>
              </a:tr>
              <a:tr h="274320">
                <a:tc>
                  <a:txBody>
                    <a:bodyPr/>
                    <a:lstStyle/>
                    <a:p>
                      <a:pPr marL="0" indent="0">
                        <a:buNone/>
                      </a:pPr>
                      <a:r>
                        <a:rPr lang="en-US" sz="1100" dirty="0">
                          <a:solidFill>
                            <a:schemeClr val="tx1"/>
                          </a:solidFill>
                        </a:rPr>
                        <a:t>Tesseract, PSM 11</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Greyscale only</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79.4%</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150.0%</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8"/>
                  </a:ext>
                </a:extLst>
              </a:tr>
              <a:tr h="274320">
                <a:tc>
                  <a:txBody>
                    <a:bodyPr/>
                    <a:lstStyle/>
                    <a:p>
                      <a:pPr marL="0" indent="0">
                        <a:buNone/>
                      </a:pPr>
                      <a:r>
                        <a:rPr lang="en-US" sz="1100" dirty="0">
                          <a:solidFill>
                            <a:schemeClr val="tx1"/>
                          </a:solidFill>
                        </a:rPr>
                        <a:t>Tesseract, PSM 3</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Stroke-reconnected</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111.9%</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220.0%</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09"/>
                  </a:ext>
                </a:extLst>
              </a:tr>
              <a:tr h="274320">
                <a:tc>
                  <a:txBody>
                    <a:bodyPr/>
                    <a:lstStyle/>
                    <a:p>
                      <a:pPr marL="0" indent="0">
                        <a:buNone/>
                      </a:pPr>
                      <a:r>
                        <a:rPr lang="en-US" sz="1100" dirty="0">
                          <a:solidFill>
                            <a:schemeClr val="tx1"/>
                          </a:solidFill>
                        </a:rPr>
                        <a:t>Tesseract, PSM 6</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Adaptive Gaussian</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130.2%</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tc>
                  <a:txBody>
                    <a:bodyPr/>
                    <a:lstStyle/>
                    <a:p>
                      <a:pPr marL="0" indent="0">
                        <a:buNone/>
                      </a:pPr>
                      <a:r>
                        <a:rPr lang="en-US" sz="1100" dirty="0">
                          <a:solidFill>
                            <a:schemeClr val="tx1"/>
                          </a:solidFill>
                        </a:rPr>
                        <a:t>280.0%</a:t>
                      </a:r>
                      <a:endParaRPr lang="en-US" sz="1100" dirty="0"/>
                    </a:p>
                  </a:txBody>
                  <a:tcPr marL="45720" marR="45720" anchor="ctr">
                    <a:lnL w="6350" cap="flat" cmpd="sng" algn="ctr">
                      <a:solidFill>
                        <a:srgbClr val="C9D3E3"/>
                      </a:solidFill>
                      <a:prstDash val="solid"/>
                      <a:round/>
                      <a:headEnd type="none" w="med" len="med"/>
                      <a:tailEnd type="none" w="med" len="med"/>
                    </a:lnL>
                    <a:lnR w="6350" cap="flat" cmpd="sng" algn="ctr">
                      <a:solidFill>
                        <a:srgbClr val="C9D3E3"/>
                      </a:solidFill>
                      <a:prstDash val="solid"/>
                      <a:round/>
                      <a:headEnd type="none" w="med" len="med"/>
                      <a:tailEnd type="none" w="med" len="med"/>
                    </a:lnR>
                    <a:lnT w="6350" cap="flat" cmpd="sng" algn="ctr">
                      <a:solidFill>
                        <a:srgbClr val="C9D3E3"/>
                      </a:solidFill>
                      <a:prstDash val="solid"/>
                      <a:round/>
                      <a:headEnd type="none" w="med" len="med"/>
                      <a:tailEnd type="none" w="med" len="med"/>
                    </a:lnT>
                    <a:lnB w="6350" cap="flat" cmpd="sng" algn="ctr">
                      <a:solidFill>
                        <a:srgbClr val="C9D3E3"/>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4" name="Text 1"/>
          <p:cNvSpPr txBox="1"/>
          <p:nvPr/>
        </p:nvSpPr>
        <p:spPr>
          <a:xfrm>
            <a:off x="6309360" y="1005840"/>
            <a:ext cx="2377440" cy="274320"/>
          </a:xfrm>
          <a:prstGeom prst="rect">
            <a:avLst/>
          </a:prstGeom>
          <a:noFill/>
          <a:ln/>
        </p:spPr>
        <p:txBody>
          <a:bodyPr wrap="square" lIns="0" tIns="0" rIns="0" bIns="0" rtlCol="0" anchor="ctr"/>
          <a:lstStyle/>
          <a:p>
            <a:pPr marL="0" indent="0">
              <a:buNone/>
            </a:pPr>
            <a:r>
              <a:rPr lang="en-US" sz="1400" b="1" dirty="0">
                <a:solidFill>
                  <a:schemeClr val="tx1"/>
                </a:solidFill>
              </a:rPr>
              <a:t>Observations</a:t>
            </a:r>
            <a:endParaRPr lang="en-US" sz="1400" dirty="0"/>
          </a:p>
        </p:txBody>
      </p:sp>
      <p:sp>
        <p:nvSpPr>
          <p:cNvPr id="5" name="Text 2"/>
          <p:cNvSpPr txBox="1"/>
          <p:nvPr/>
        </p:nvSpPr>
        <p:spPr>
          <a:xfrm>
            <a:off x="6309360" y="1325880"/>
            <a:ext cx="2377440"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CLAHE gave the lowest EasyOCR error on this page</a:t>
            </a:r>
            <a:endParaRPr lang="en-US" sz="1200" dirty="0"/>
          </a:p>
          <a:p>
            <a:pPr marL="342900" indent="-342900">
              <a:spcAft>
                <a:spcPts val="600"/>
              </a:spcAft>
              <a:buSzPct val="100000"/>
              <a:buChar char="•"/>
            </a:pPr>
            <a:r>
              <a:rPr lang="en-US" sz="1200" dirty="0">
                <a:solidFill>
                  <a:schemeClr val="tx1"/>
                </a:solidFill>
              </a:rPr>
              <a:t>Binary images raised EasyOCR error; they suit Tesseract better</a:t>
            </a:r>
            <a:endParaRPr lang="en-US" sz="1200" dirty="0"/>
          </a:p>
          <a:p>
            <a:pPr marL="342900" indent="-342900">
              <a:spcAft>
                <a:spcPts val="600"/>
              </a:spcAft>
              <a:buSzPct val="100000"/>
              <a:buChar char="•"/>
            </a:pPr>
            <a:r>
              <a:rPr lang="en-US" sz="1200" dirty="0">
                <a:solidFill>
                  <a:schemeClr val="tx1"/>
                </a:solidFill>
              </a:rPr>
              <a:t>Tesseract was not suitable for this handwriting</a:t>
            </a:r>
            <a:endParaRPr lang="en-US" sz="1200" dirty="0"/>
          </a:p>
          <a:p>
            <a:pPr marL="342900" indent="-342900">
              <a:spcAft>
                <a:spcPts val="600"/>
              </a:spcAft>
              <a:buSzPct val="100000"/>
              <a:buChar char="•"/>
            </a:pPr>
            <a:r>
              <a:rPr lang="en-US" sz="1200" dirty="0">
                <a:solidFill>
                  <a:schemeClr val="tx1"/>
                </a:solidFill>
              </a:rPr>
              <a:t>Ruled-line suppression did not help on faint ruling</a:t>
            </a:r>
            <a:endParaRPr lang="en-US" sz="1200" dirty="0"/>
          </a:p>
          <a:p>
            <a:pPr marL="342900" indent="-342900">
              <a:spcAft>
                <a:spcPts val="600"/>
              </a:spcAft>
              <a:buSzPct val="100000"/>
              <a:buChar char="•"/>
            </a:pPr>
            <a:r>
              <a:rPr lang="en-US" sz="1200" dirty="0">
                <a:solidFill>
                  <a:schemeClr val="tx1"/>
                </a:solidFill>
              </a:rPr>
              <a:t>Runtime (2-core CPU): image stages &lt; 0.2 s; EasyOCR ≈ 16 s; Tesseract ≈ 11 s</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Corrections made to the code</a:t>
            </a:r>
            <a:endParaRPr lang="en-US" sz="2800" dirty="0"/>
          </a:p>
        </p:txBody>
      </p:sp>
      <p:sp>
        <p:nvSpPr>
          <p:cNvPr id="3" name="fix-card-0"/>
          <p:cNvSpPr/>
          <p:nvPr/>
        </p:nvSpPr>
        <p:spPr>
          <a:xfrm>
            <a:off x="457200" y="1005840"/>
            <a:ext cx="4023360" cy="749808"/>
          </a:xfrm>
          <a:prstGeom prst="roundRect">
            <a:avLst>
              <a:gd name="adj" fmla="val 9756"/>
            </a:avLst>
          </a:prstGeom>
          <a:solidFill>
            <a:schemeClr val="bg2"/>
          </a:solidFill>
          <a:ln/>
        </p:spPr>
      </p:sp>
      <p:pic>
        <p:nvPicPr>
          <p:cNvPr id="4" name="fix-check-0" descr="check"/>
          <p:cNvPicPr>
            <a:picLocks noChangeAspect="1"/>
          </p:cNvPicPr>
          <p:nvPr/>
        </p:nvPicPr>
        <p:blipFill>
          <a:blip r:embed="rId3"/>
          <a:stretch>
            <a:fillRect/>
          </a:stretch>
        </p:blipFill>
        <p:spPr>
          <a:xfrm>
            <a:off x="594360" y="1225296"/>
            <a:ext cx="292608" cy="292608"/>
          </a:xfrm>
          <a:prstGeom prst="rect">
            <a:avLst/>
          </a:prstGeom>
        </p:spPr>
      </p:pic>
      <p:sp>
        <p:nvSpPr>
          <p:cNvPr id="5" name="Text 2"/>
          <p:cNvSpPr txBox="1"/>
          <p:nvPr/>
        </p:nvSpPr>
        <p:spPr>
          <a:xfrm>
            <a:off x="1005840" y="1078992"/>
            <a:ext cx="3383280" cy="640080"/>
          </a:xfrm>
          <a:prstGeom prst="rect">
            <a:avLst/>
          </a:prstGeom>
          <a:noFill/>
          <a:ln/>
        </p:spPr>
        <p:txBody>
          <a:bodyPr wrap="square" lIns="0" tIns="0" rIns="0" bIns="0" rtlCol="0" anchor="t"/>
          <a:lstStyle/>
          <a:p>
            <a:pPr marL="0" indent="0">
              <a:buNone/>
            </a:pPr>
            <a:r>
              <a:rPr lang="en-US" sz="1300" b="1" dirty="0">
                <a:solidFill>
                  <a:schemeClr val="tx1"/>
                </a:solidFill>
              </a:rPr>
              <a:t>Photo-specific word substitutions</a:t>
            </a:r>
            <a:endParaRPr lang="en-US" sz="1300" dirty="0"/>
          </a:p>
          <a:p>
            <a:pPr marL="0" indent="0">
              <a:buNone/>
            </a:pPr>
            <a:r>
              <a:rPr lang="en-US" sz="1100" dirty="0">
                <a:solidFill>
                  <a:schemeClr val="tx2"/>
                </a:solidFill>
              </a:rPr>
              <a:t>Removed; replaced by generic clean-up + optional lexicon</a:t>
            </a:r>
            <a:endParaRPr lang="en-US" sz="1300" dirty="0"/>
          </a:p>
        </p:txBody>
      </p:sp>
      <p:sp>
        <p:nvSpPr>
          <p:cNvPr id="6" name="fix-card-1"/>
          <p:cNvSpPr/>
          <p:nvPr/>
        </p:nvSpPr>
        <p:spPr>
          <a:xfrm>
            <a:off x="4663440" y="1005840"/>
            <a:ext cx="4023360" cy="749808"/>
          </a:xfrm>
          <a:prstGeom prst="roundRect">
            <a:avLst>
              <a:gd name="adj" fmla="val 9756"/>
            </a:avLst>
          </a:prstGeom>
          <a:solidFill>
            <a:schemeClr val="bg2"/>
          </a:solidFill>
          <a:ln/>
        </p:spPr>
      </p:sp>
      <p:pic>
        <p:nvPicPr>
          <p:cNvPr id="7" name="fix-check-1" descr="check"/>
          <p:cNvPicPr>
            <a:picLocks noChangeAspect="1"/>
          </p:cNvPicPr>
          <p:nvPr/>
        </p:nvPicPr>
        <p:blipFill>
          <a:blip r:embed="rId3"/>
          <a:stretch>
            <a:fillRect/>
          </a:stretch>
        </p:blipFill>
        <p:spPr>
          <a:xfrm>
            <a:off x="4800600" y="1225296"/>
            <a:ext cx="292608" cy="292608"/>
          </a:xfrm>
          <a:prstGeom prst="rect">
            <a:avLst/>
          </a:prstGeom>
        </p:spPr>
      </p:pic>
      <p:sp>
        <p:nvSpPr>
          <p:cNvPr id="8" name="Text 4"/>
          <p:cNvSpPr txBox="1"/>
          <p:nvPr/>
        </p:nvSpPr>
        <p:spPr>
          <a:xfrm>
            <a:off x="5212080" y="1078992"/>
            <a:ext cx="3383280" cy="640080"/>
          </a:xfrm>
          <a:prstGeom prst="rect">
            <a:avLst/>
          </a:prstGeom>
          <a:noFill/>
          <a:ln/>
        </p:spPr>
        <p:txBody>
          <a:bodyPr wrap="square" lIns="0" tIns="0" rIns="0" bIns="0" rtlCol="0" anchor="t"/>
          <a:lstStyle/>
          <a:p>
            <a:pPr marL="0" indent="0">
              <a:buNone/>
            </a:pPr>
            <a:r>
              <a:rPr lang="en-US" sz="1300" b="1" dirty="0">
                <a:solidFill>
                  <a:schemeClr val="tx1"/>
                </a:solidFill>
              </a:rPr>
              <a:t>Text block accepted as page boundary</a:t>
            </a:r>
            <a:endParaRPr lang="en-US" sz="1300" dirty="0"/>
          </a:p>
          <a:p>
            <a:pPr marL="0" indent="0">
              <a:buNone/>
            </a:pPr>
            <a:r>
              <a:rPr lang="en-US" sz="1100" dirty="0">
                <a:solidFill>
                  <a:schemeClr val="tx2"/>
                </a:solidFill>
              </a:rPr>
              <a:t>Added the inside/outside contrast test</a:t>
            </a:r>
            <a:endParaRPr lang="en-US" sz="1300" dirty="0"/>
          </a:p>
        </p:txBody>
      </p:sp>
      <p:sp>
        <p:nvSpPr>
          <p:cNvPr id="9" name="fix-card-2"/>
          <p:cNvSpPr/>
          <p:nvPr/>
        </p:nvSpPr>
        <p:spPr>
          <a:xfrm>
            <a:off x="457200" y="1874520"/>
            <a:ext cx="4023360" cy="749808"/>
          </a:xfrm>
          <a:prstGeom prst="roundRect">
            <a:avLst>
              <a:gd name="adj" fmla="val 9756"/>
            </a:avLst>
          </a:prstGeom>
          <a:solidFill>
            <a:schemeClr val="bg2"/>
          </a:solidFill>
          <a:ln/>
        </p:spPr>
      </p:sp>
      <p:pic>
        <p:nvPicPr>
          <p:cNvPr id="10" name="fix-check-2" descr="check"/>
          <p:cNvPicPr>
            <a:picLocks noChangeAspect="1"/>
          </p:cNvPicPr>
          <p:nvPr/>
        </p:nvPicPr>
        <p:blipFill>
          <a:blip r:embed="rId3"/>
          <a:stretch>
            <a:fillRect/>
          </a:stretch>
        </p:blipFill>
        <p:spPr>
          <a:xfrm>
            <a:off x="594360" y="2093976"/>
            <a:ext cx="292608" cy="292608"/>
          </a:xfrm>
          <a:prstGeom prst="rect">
            <a:avLst/>
          </a:prstGeom>
        </p:spPr>
      </p:pic>
      <p:sp>
        <p:nvSpPr>
          <p:cNvPr id="11" name="Text 6"/>
          <p:cNvSpPr txBox="1"/>
          <p:nvPr/>
        </p:nvSpPr>
        <p:spPr>
          <a:xfrm>
            <a:off x="1005840" y="1947672"/>
            <a:ext cx="3383280" cy="640080"/>
          </a:xfrm>
          <a:prstGeom prst="rect">
            <a:avLst/>
          </a:prstGeom>
          <a:noFill/>
          <a:ln/>
        </p:spPr>
        <p:txBody>
          <a:bodyPr wrap="square" lIns="0" tIns="0" rIns="0" bIns="0" rtlCol="0" anchor="t"/>
          <a:lstStyle/>
          <a:p>
            <a:pPr marL="0" indent="0">
              <a:buNone/>
            </a:pPr>
            <a:r>
              <a:rPr lang="en-US" sz="1300" b="1" dirty="0">
                <a:solidFill>
                  <a:schemeClr val="tx1"/>
                </a:solidFill>
              </a:rPr>
              <a:t>Tesseract fallback never executed</a:t>
            </a:r>
            <a:endParaRPr lang="en-US" sz="1300" dirty="0"/>
          </a:p>
          <a:p>
            <a:pPr marL="0" indent="0">
              <a:buNone/>
            </a:pPr>
            <a:r>
              <a:rPr lang="en-US" sz="1100" dirty="0">
                <a:solidFill>
                  <a:schemeClr val="tx2"/>
                </a:solidFill>
              </a:rPr>
              <a:t>Now runs when EasyOCR is missing or returns nothing</a:t>
            </a:r>
            <a:endParaRPr lang="en-US" sz="1300" dirty="0"/>
          </a:p>
        </p:txBody>
      </p:sp>
      <p:sp>
        <p:nvSpPr>
          <p:cNvPr id="12" name="fix-card-3"/>
          <p:cNvSpPr/>
          <p:nvPr/>
        </p:nvSpPr>
        <p:spPr>
          <a:xfrm>
            <a:off x="4663440" y="1874520"/>
            <a:ext cx="4023360" cy="749808"/>
          </a:xfrm>
          <a:prstGeom prst="roundRect">
            <a:avLst>
              <a:gd name="adj" fmla="val 9756"/>
            </a:avLst>
          </a:prstGeom>
          <a:solidFill>
            <a:schemeClr val="bg2"/>
          </a:solidFill>
          <a:ln/>
        </p:spPr>
      </p:sp>
      <p:pic>
        <p:nvPicPr>
          <p:cNvPr id="13" name="fix-check-3" descr="check"/>
          <p:cNvPicPr>
            <a:picLocks noChangeAspect="1"/>
          </p:cNvPicPr>
          <p:nvPr/>
        </p:nvPicPr>
        <p:blipFill>
          <a:blip r:embed="rId3"/>
          <a:stretch>
            <a:fillRect/>
          </a:stretch>
        </p:blipFill>
        <p:spPr>
          <a:xfrm>
            <a:off x="4800600" y="2093976"/>
            <a:ext cx="292608" cy="292608"/>
          </a:xfrm>
          <a:prstGeom prst="rect">
            <a:avLst/>
          </a:prstGeom>
        </p:spPr>
      </p:pic>
      <p:sp>
        <p:nvSpPr>
          <p:cNvPr id="14" name="Text 8"/>
          <p:cNvSpPr txBox="1"/>
          <p:nvPr/>
        </p:nvSpPr>
        <p:spPr>
          <a:xfrm>
            <a:off x="5212080" y="1947672"/>
            <a:ext cx="3383280" cy="640080"/>
          </a:xfrm>
          <a:prstGeom prst="rect">
            <a:avLst/>
          </a:prstGeom>
          <a:noFill/>
          <a:ln/>
        </p:spPr>
        <p:txBody>
          <a:bodyPr wrap="square" lIns="0" tIns="0" rIns="0" bIns="0" rtlCol="0" anchor="t"/>
          <a:lstStyle/>
          <a:p>
            <a:pPr marL="0" indent="0">
              <a:buNone/>
            </a:pPr>
            <a:r>
              <a:rPr lang="en-US" sz="1300" b="1" dirty="0">
                <a:solidFill>
                  <a:schemeClr val="tx1"/>
                </a:solidFill>
              </a:rPr>
              <a:t>--lang ignored by EasyOCR</a:t>
            </a:r>
            <a:endParaRPr lang="en-US" sz="1300" dirty="0"/>
          </a:p>
          <a:p>
            <a:pPr marL="0" indent="0">
              <a:buNone/>
            </a:pPr>
            <a:r>
              <a:rPr lang="en-US" sz="1100" dirty="0">
                <a:solidFill>
                  <a:schemeClr val="tx2"/>
                </a:solidFill>
              </a:rPr>
              <a:t>Tesseract codes mapped (eng → en, hin → hi)</a:t>
            </a:r>
            <a:endParaRPr lang="en-US" sz="1300" dirty="0"/>
          </a:p>
        </p:txBody>
      </p:sp>
      <p:sp>
        <p:nvSpPr>
          <p:cNvPr id="15" name="fix-card-4"/>
          <p:cNvSpPr/>
          <p:nvPr/>
        </p:nvSpPr>
        <p:spPr>
          <a:xfrm>
            <a:off x="457200" y="2743200"/>
            <a:ext cx="4023360" cy="749808"/>
          </a:xfrm>
          <a:prstGeom prst="roundRect">
            <a:avLst>
              <a:gd name="adj" fmla="val 9756"/>
            </a:avLst>
          </a:prstGeom>
          <a:solidFill>
            <a:schemeClr val="bg2"/>
          </a:solidFill>
          <a:ln/>
        </p:spPr>
      </p:sp>
      <p:pic>
        <p:nvPicPr>
          <p:cNvPr id="16" name="fix-check-4" descr="check"/>
          <p:cNvPicPr>
            <a:picLocks noChangeAspect="1"/>
          </p:cNvPicPr>
          <p:nvPr/>
        </p:nvPicPr>
        <p:blipFill>
          <a:blip r:embed="rId3"/>
          <a:stretch>
            <a:fillRect/>
          </a:stretch>
        </p:blipFill>
        <p:spPr>
          <a:xfrm>
            <a:off x="594360" y="2962656"/>
            <a:ext cx="292608" cy="292608"/>
          </a:xfrm>
          <a:prstGeom prst="rect">
            <a:avLst/>
          </a:prstGeom>
        </p:spPr>
      </p:pic>
      <p:sp>
        <p:nvSpPr>
          <p:cNvPr id="17" name="Text 10"/>
          <p:cNvSpPr txBox="1"/>
          <p:nvPr/>
        </p:nvSpPr>
        <p:spPr>
          <a:xfrm>
            <a:off x="1005840" y="2816352"/>
            <a:ext cx="3383280" cy="640080"/>
          </a:xfrm>
          <a:prstGeom prst="rect">
            <a:avLst/>
          </a:prstGeom>
          <a:noFill/>
          <a:ln/>
        </p:spPr>
        <p:txBody>
          <a:bodyPr wrap="square" lIns="0" tIns="0" rIns="0" bIns="0" rtlCol="0" anchor="t"/>
          <a:lstStyle/>
          <a:p>
            <a:pPr marL="0" indent="0">
              <a:buNone/>
            </a:pPr>
            <a:r>
              <a:rPr lang="en-US" sz="1300" b="1" dirty="0">
                <a:solidFill>
                  <a:schemeClr val="tx1"/>
                </a:solidFill>
              </a:rPr>
              <a:t>Tesseract path fixed to one user folder</a:t>
            </a:r>
            <a:endParaRPr lang="en-US" sz="1300" dirty="0"/>
          </a:p>
          <a:p>
            <a:pPr marL="0" indent="0">
              <a:buNone/>
            </a:pPr>
            <a:r>
              <a:rPr lang="en-US" sz="1100" dirty="0">
                <a:solidFill>
                  <a:schemeClr val="tx2"/>
                </a:solidFill>
              </a:rPr>
              <a:t>TESSERACT_CMD, then PATH, then install folders</a:t>
            </a:r>
            <a:endParaRPr lang="en-US" sz="1300" dirty="0"/>
          </a:p>
        </p:txBody>
      </p:sp>
      <p:sp>
        <p:nvSpPr>
          <p:cNvPr id="18" name="fix-card-5"/>
          <p:cNvSpPr/>
          <p:nvPr/>
        </p:nvSpPr>
        <p:spPr>
          <a:xfrm>
            <a:off x="4663440" y="2743200"/>
            <a:ext cx="4023360" cy="749808"/>
          </a:xfrm>
          <a:prstGeom prst="roundRect">
            <a:avLst>
              <a:gd name="adj" fmla="val 9756"/>
            </a:avLst>
          </a:prstGeom>
          <a:solidFill>
            <a:schemeClr val="bg2"/>
          </a:solidFill>
          <a:ln/>
        </p:spPr>
      </p:sp>
      <p:pic>
        <p:nvPicPr>
          <p:cNvPr id="19" name="fix-check-5" descr="check"/>
          <p:cNvPicPr>
            <a:picLocks noChangeAspect="1"/>
          </p:cNvPicPr>
          <p:nvPr/>
        </p:nvPicPr>
        <p:blipFill>
          <a:blip r:embed="rId3"/>
          <a:stretch>
            <a:fillRect/>
          </a:stretch>
        </p:blipFill>
        <p:spPr>
          <a:xfrm>
            <a:off x="4800600" y="2962656"/>
            <a:ext cx="292608" cy="292608"/>
          </a:xfrm>
          <a:prstGeom prst="rect">
            <a:avLst/>
          </a:prstGeom>
        </p:spPr>
      </p:pic>
      <p:sp>
        <p:nvSpPr>
          <p:cNvPr id="20" name="Text 12"/>
          <p:cNvSpPr txBox="1"/>
          <p:nvPr/>
        </p:nvSpPr>
        <p:spPr>
          <a:xfrm>
            <a:off x="5212080" y="2816352"/>
            <a:ext cx="3383280" cy="640080"/>
          </a:xfrm>
          <a:prstGeom prst="rect">
            <a:avLst/>
          </a:prstGeom>
          <a:noFill/>
          <a:ln/>
        </p:spPr>
        <p:txBody>
          <a:bodyPr wrap="square" lIns="0" tIns="0" rIns="0" bIns="0" rtlCol="0" anchor="t"/>
          <a:lstStyle/>
          <a:p>
            <a:pPr marL="0" indent="0">
              <a:buNone/>
            </a:pPr>
            <a:r>
              <a:rPr lang="en-US" sz="1300" b="1" dirty="0">
                <a:solidFill>
                  <a:schemeClr val="tx1"/>
                </a:solidFill>
              </a:rPr>
              <a:t>Summary treated bullet notes as one sentence</a:t>
            </a:r>
            <a:endParaRPr lang="en-US" sz="1300" dirty="0"/>
          </a:p>
          <a:p>
            <a:pPr marL="0" indent="0">
              <a:buNone/>
            </a:pPr>
            <a:r>
              <a:rPr lang="en-US" sz="1100" dirty="0">
                <a:solidFill>
                  <a:schemeClr val="tx2"/>
                </a:solidFill>
              </a:rPr>
              <a:t>Line breaks are now sentence boundaries</a:t>
            </a:r>
            <a:endParaRPr lang="en-US" sz="1300" dirty="0"/>
          </a:p>
        </p:txBody>
      </p:sp>
      <p:sp>
        <p:nvSpPr>
          <p:cNvPr id="21" name="fix-card-6"/>
          <p:cNvSpPr/>
          <p:nvPr/>
        </p:nvSpPr>
        <p:spPr>
          <a:xfrm>
            <a:off x="457200" y="3611880"/>
            <a:ext cx="4023360" cy="749808"/>
          </a:xfrm>
          <a:prstGeom prst="roundRect">
            <a:avLst>
              <a:gd name="adj" fmla="val 9756"/>
            </a:avLst>
          </a:prstGeom>
          <a:solidFill>
            <a:schemeClr val="bg2"/>
          </a:solidFill>
          <a:ln/>
        </p:spPr>
      </p:sp>
      <p:pic>
        <p:nvPicPr>
          <p:cNvPr id="22" name="fix-check-6" descr="check"/>
          <p:cNvPicPr>
            <a:picLocks noChangeAspect="1"/>
          </p:cNvPicPr>
          <p:nvPr/>
        </p:nvPicPr>
        <p:blipFill>
          <a:blip r:embed="rId3"/>
          <a:stretch>
            <a:fillRect/>
          </a:stretch>
        </p:blipFill>
        <p:spPr>
          <a:xfrm>
            <a:off x="594360" y="3831336"/>
            <a:ext cx="292608" cy="292608"/>
          </a:xfrm>
          <a:prstGeom prst="rect">
            <a:avLst/>
          </a:prstGeom>
        </p:spPr>
      </p:pic>
      <p:sp>
        <p:nvSpPr>
          <p:cNvPr id="23" name="Text 14"/>
          <p:cNvSpPr txBox="1"/>
          <p:nvPr/>
        </p:nvSpPr>
        <p:spPr>
          <a:xfrm>
            <a:off x="1005840" y="3685032"/>
            <a:ext cx="3383280" cy="640080"/>
          </a:xfrm>
          <a:prstGeom prst="rect">
            <a:avLst/>
          </a:prstGeom>
          <a:noFill/>
          <a:ln/>
        </p:spPr>
        <p:txBody>
          <a:bodyPr wrap="square" lIns="0" tIns="0" rIns="0" bIns="0" rtlCol="0" anchor="t"/>
          <a:lstStyle/>
          <a:p>
            <a:pPr marL="0" indent="0">
              <a:buNone/>
            </a:pPr>
            <a:r>
              <a:rPr lang="en-US" sz="1300" b="1" dirty="0">
                <a:solidFill>
                  <a:schemeClr val="tx1"/>
                </a:solidFill>
              </a:rPr>
              <a:t>No accuracy measurement</a:t>
            </a:r>
            <a:endParaRPr lang="en-US" sz="1300" dirty="0"/>
          </a:p>
          <a:p>
            <a:pPr marL="0" indent="0">
              <a:buNone/>
            </a:pPr>
            <a:r>
              <a:rPr lang="en-US" sz="1100" dirty="0">
                <a:solidFill>
                  <a:schemeClr val="tx2"/>
                </a:solidFill>
              </a:rPr>
              <a:t>--ground-truth prints CER/WER; raw output saved</a:t>
            </a:r>
            <a:endParaRPr lang="en-US" sz="1300" dirty="0"/>
          </a:p>
        </p:txBody>
      </p:sp>
      <p:sp>
        <p:nvSpPr>
          <p:cNvPr id="24" name="fix-card-7"/>
          <p:cNvSpPr/>
          <p:nvPr/>
        </p:nvSpPr>
        <p:spPr>
          <a:xfrm>
            <a:off x="4663440" y="3611880"/>
            <a:ext cx="4023360" cy="749808"/>
          </a:xfrm>
          <a:prstGeom prst="roundRect">
            <a:avLst>
              <a:gd name="adj" fmla="val 9756"/>
            </a:avLst>
          </a:prstGeom>
          <a:solidFill>
            <a:schemeClr val="bg2"/>
          </a:solidFill>
          <a:ln/>
        </p:spPr>
      </p:sp>
      <p:pic>
        <p:nvPicPr>
          <p:cNvPr id="25" name="fix-check-7" descr="check"/>
          <p:cNvPicPr>
            <a:picLocks noChangeAspect="1"/>
          </p:cNvPicPr>
          <p:nvPr/>
        </p:nvPicPr>
        <p:blipFill>
          <a:blip r:embed="rId3"/>
          <a:stretch>
            <a:fillRect/>
          </a:stretch>
        </p:blipFill>
        <p:spPr>
          <a:xfrm>
            <a:off x="4800600" y="3831336"/>
            <a:ext cx="292608" cy="292608"/>
          </a:xfrm>
          <a:prstGeom prst="rect">
            <a:avLst/>
          </a:prstGeom>
        </p:spPr>
      </p:pic>
      <p:sp>
        <p:nvSpPr>
          <p:cNvPr id="26" name="Text 16"/>
          <p:cNvSpPr txBox="1"/>
          <p:nvPr/>
        </p:nvSpPr>
        <p:spPr>
          <a:xfrm>
            <a:off x="5212080" y="3685032"/>
            <a:ext cx="3383280" cy="640080"/>
          </a:xfrm>
          <a:prstGeom prst="rect">
            <a:avLst/>
          </a:prstGeom>
          <a:noFill/>
          <a:ln/>
        </p:spPr>
        <p:txBody>
          <a:bodyPr wrap="square" lIns="0" tIns="0" rIns="0" bIns="0" rtlCol="0" anchor="t"/>
          <a:lstStyle/>
          <a:p>
            <a:pPr marL="0" indent="0">
              <a:buNone/>
            </a:pPr>
            <a:r>
              <a:rPr lang="en-US" sz="1300" b="1" dirty="0">
                <a:solidFill>
                  <a:schemeClr val="tx1"/>
                </a:solidFill>
              </a:rPr>
              <a:t>Unused matplotlib in requirements</a:t>
            </a:r>
            <a:endParaRPr lang="en-US" sz="1300" dirty="0"/>
          </a:p>
          <a:p>
            <a:pPr marL="0" indent="0">
              <a:buNone/>
            </a:pPr>
            <a:r>
              <a:rPr lang="en-US" sz="1100" dirty="0">
                <a:solidFill>
                  <a:schemeClr val="tx2"/>
                </a:solidFill>
              </a:rPr>
              <a:t>Removed; dependencies grouped</a:t>
            </a:r>
            <a:endParaRPr lang="en-US" sz="1300" dirty="0"/>
          </a:p>
        </p:txBody>
      </p:sp>
      <p:sp>
        <p:nvSpPr>
          <p:cNvPr id="27"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Cambria" pitchFamily="34" charset="0"/>
                <a:ea typeface="Cambria" pitchFamily="34" charset="-122"/>
                <a:cs typeface="Cambria" pitchFamily="34" charset="-120"/>
              </a:rPr>
              <a:t>Limitations</a:t>
            </a:r>
            <a:endParaRPr lang="en-US" sz="2800" dirty="0"/>
          </a:p>
        </p:txBody>
      </p:sp>
      <p:sp>
        <p:nvSpPr>
          <p:cNvPr id="3" name="limit-card-0"/>
          <p:cNvSpPr/>
          <p:nvPr/>
        </p:nvSpPr>
        <p:spPr>
          <a:xfrm>
            <a:off x="457200" y="1005840"/>
            <a:ext cx="8229600" cy="603504"/>
          </a:xfrm>
          <a:prstGeom prst="roundRect">
            <a:avLst>
              <a:gd name="adj" fmla="val 12121"/>
            </a:avLst>
          </a:prstGeom>
          <a:solidFill>
            <a:schemeClr val="bg2"/>
          </a:solidFill>
          <a:ln/>
        </p:spPr>
      </p:sp>
      <p:sp>
        <p:nvSpPr>
          <p:cNvPr id="4" name="limit-dot-0"/>
          <p:cNvSpPr/>
          <p:nvPr/>
        </p:nvSpPr>
        <p:spPr>
          <a:xfrm>
            <a:off x="621792" y="1133856"/>
            <a:ext cx="347472" cy="347472"/>
          </a:xfrm>
          <a:prstGeom prst="ellipse">
            <a:avLst/>
          </a:prstGeom>
          <a:solidFill>
            <a:schemeClr val="accent2"/>
          </a:solidFill>
          <a:ln/>
        </p:spPr>
      </p:sp>
      <p:sp>
        <p:nvSpPr>
          <p:cNvPr id="5" name="Text 3"/>
          <p:cNvSpPr txBox="1"/>
          <p:nvPr/>
        </p:nvSpPr>
        <p:spPr>
          <a:xfrm>
            <a:off x="621792" y="1133856"/>
            <a:ext cx="347472" cy="347472"/>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6" name="Text 4"/>
          <p:cNvSpPr txBox="1"/>
          <p:nvPr/>
        </p:nvSpPr>
        <p:spPr>
          <a:xfrm>
            <a:off x="1143000" y="1005840"/>
            <a:ext cx="2286000" cy="603504"/>
          </a:xfrm>
          <a:prstGeom prst="rect">
            <a:avLst/>
          </a:prstGeom>
          <a:noFill/>
          <a:ln/>
        </p:spPr>
        <p:txBody>
          <a:bodyPr wrap="square" lIns="0" tIns="0" rIns="0" bIns="0" rtlCol="0" anchor="ctr"/>
          <a:lstStyle/>
          <a:p>
            <a:pPr marL="0" indent="0">
              <a:buNone/>
            </a:pPr>
            <a:r>
              <a:rPr lang="en-US" sz="1400" b="1" dirty="0">
                <a:solidFill>
                  <a:schemeClr val="tx1"/>
                </a:solidFill>
              </a:rPr>
              <a:t>Recognition accuracy</a:t>
            </a:r>
            <a:endParaRPr lang="en-US" sz="1400" dirty="0"/>
          </a:p>
        </p:txBody>
      </p:sp>
      <p:sp>
        <p:nvSpPr>
          <p:cNvPr id="7" name="Text 5"/>
          <p:cNvSpPr txBox="1"/>
          <p:nvPr/>
        </p:nvSpPr>
        <p:spPr>
          <a:xfrm>
            <a:off x="3474720" y="1005840"/>
            <a:ext cx="5029200" cy="603504"/>
          </a:xfrm>
          <a:prstGeom prst="rect">
            <a:avLst/>
          </a:prstGeom>
          <a:noFill/>
          <a:ln/>
        </p:spPr>
        <p:txBody>
          <a:bodyPr wrap="square" lIns="0" tIns="0" rIns="0" bIns="0" rtlCol="0" anchor="ctr"/>
          <a:lstStyle/>
          <a:p>
            <a:pPr marL="0" indent="0">
              <a:buNone/>
            </a:pPr>
            <a:r>
              <a:rPr lang="en-US" sz="1300" dirty="0">
                <a:solidFill>
                  <a:schemeClr val="tx2"/>
                </a:solidFill>
              </a:rPr>
              <a:t>CER of about 35–45% on joined handwriting; EasyOCR is trained mainly on printed text</a:t>
            </a:r>
            <a:endParaRPr lang="en-US" sz="1300" dirty="0"/>
          </a:p>
        </p:txBody>
      </p:sp>
      <p:sp>
        <p:nvSpPr>
          <p:cNvPr id="8" name="limit-card-1"/>
          <p:cNvSpPr/>
          <p:nvPr/>
        </p:nvSpPr>
        <p:spPr>
          <a:xfrm>
            <a:off x="457200" y="1719072"/>
            <a:ext cx="8229600" cy="603504"/>
          </a:xfrm>
          <a:prstGeom prst="roundRect">
            <a:avLst>
              <a:gd name="adj" fmla="val 12121"/>
            </a:avLst>
          </a:prstGeom>
          <a:solidFill>
            <a:schemeClr val="bg2"/>
          </a:solidFill>
          <a:ln/>
        </p:spPr>
      </p:sp>
      <p:sp>
        <p:nvSpPr>
          <p:cNvPr id="9" name="limit-dot-1"/>
          <p:cNvSpPr/>
          <p:nvPr/>
        </p:nvSpPr>
        <p:spPr>
          <a:xfrm>
            <a:off x="621792" y="1847088"/>
            <a:ext cx="347472" cy="347472"/>
          </a:xfrm>
          <a:prstGeom prst="ellipse">
            <a:avLst/>
          </a:prstGeom>
          <a:solidFill>
            <a:schemeClr val="accent2"/>
          </a:solidFill>
          <a:ln/>
        </p:spPr>
      </p:sp>
      <p:sp>
        <p:nvSpPr>
          <p:cNvPr id="10" name="Text 8"/>
          <p:cNvSpPr txBox="1"/>
          <p:nvPr/>
        </p:nvSpPr>
        <p:spPr>
          <a:xfrm>
            <a:off x="621792" y="1847088"/>
            <a:ext cx="347472" cy="347472"/>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1" name="Text 9"/>
          <p:cNvSpPr txBox="1"/>
          <p:nvPr/>
        </p:nvSpPr>
        <p:spPr>
          <a:xfrm>
            <a:off x="1143000" y="1719072"/>
            <a:ext cx="2286000" cy="603504"/>
          </a:xfrm>
          <a:prstGeom prst="rect">
            <a:avLst/>
          </a:prstGeom>
          <a:noFill/>
          <a:ln/>
        </p:spPr>
        <p:txBody>
          <a:bodyPr wrap="square" lIns="0" tIns="0" rIns="0" bIns="0" rtlCol="0" anchor="ctr"/>
          <a:lstStyle/>
          <a:p>
            <a:pPr marL="0" indent="0">
              <a:buNone/>
            </a:pPr>
            <a:r>
              <a:rPr lang="en-US" sz="1400" b="1" dirty="0">
                <a:solidFill>
                  <a:schemeClr val="tx1"/>
                </a:solidFill>
              </a:rPr>
              <a:t>Size of the evaluation</a:t>
            </a:r>
            <a:endParaRPr lang="en-US" sz="1400" dirty="0"/>
          </a:p>
        </p:txBody>
      </p:sp>
      <p:sp>
        <p:nvSpPr>
          <p:cNvPr id="12" name="Text 10"/>
          <p:cNvSpPr txBox="1"/>
          <p:nvPr/>
        </p:nvSpPr>
        <p:spPr>
          <a:xfrm>
            <a:off x="3474720" y="1719072"/>
            <a:ext cx="5029200" cy="603504"/>
          </a:xfrm>
          <a:prstGeom prst="rect">
            <a:avLst/>
          </a:prstGeom>
          <a:noFill/>
          <a:ln/>
        </p:spPr>
        <p:txBody>
          <a:bodyPr wrap="square" lIns="0" tIns="0" rIns="0" bIns="0" rtlCol="0" anchor="ctr"/>
          <a:lstStyle/>
          <a:p>
            <a:pPr marL="0" indent="0">
              <a:buNone/>
            </a:pPr>
            <a:r>
              <a:rPr lang="en-US" sz="1300" dirty="0">
                <a:solidFill>
                  <a:schemeClr val="tx2"/>
                </a:solidFill>
              </a:rPr>
              <a:t>One real page and six copies derived from it; results show a trend, not a general accuracy</a:t>
            </a:r>
            <a:endParaRPr lang="en-US" sz="1300" dirty="0"/>
          </a:p>
        </p:txBody>
      </p:sp>
      <p:sp>
        <p:nvSpPr>
          <p:cNvPr id="13" name="limit-card-2"/>
          <p:cNvSpPr/>
          <p:nvPr/>
        </p:nvSpPr>
        <p:spPr>
          <a:xfrm>
            <a:off x="457200" y="2432304"/>
            <a:ext cx="8229600" cy="603504"/>
          </a:xfrm>
          <a:prstGeom prst="roundRect">
            <a:avLst>
              <a:gd name="adj" fmla="val 12121"/>
            </a:avLst>
          </a:prstGeom>
          <a:solidFill>
            <a:schemeClr val="bg2"/>
          </a:solidFill>
          <a:ln/>
        </p:spPr>
      </p:sp>
      <p:sp>
        <p:nvSpPr>
          <p:cNvPr id="14" name="limit-dot-2"/>
          <p:cNvSpPr/>
          <p:nvPr/>
        </p:nvSpPr>
        <p:spPr>
          <a:xfrm>
            <a:off x="621792" y="2560320"/>
            <a:ext cx="347472" cy="347472"/>
          </a:xfrm>
          <a:prstGeom prst="ellipse">
            <a:avLst/>
          </a:prstGeom>
          <a:solidFill>
            <a:schemeClr val="accent2"/>
          </a:solidFill>
          <a:ln/>
        </p:spPr>
      </p:sp>
      <p:sp>
        <p:nvSpPr>
          <p:cNvPr id="15" name="Text 13"/>
          <p:cNvSpPr txBox="1"/>
          <p:nvPr/>
        </p:nvSpPr>
        <p:spPr>
          <a:xfrm>
            <a:off x="621792" y="2560320"/>
            <a:ext cx="347472" cy="347472"/>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6" name="Text 14"/>
          <p:cNvSpPr txBox="1"/>
          <p:nvPr/>
        </p:nvSpPr>
        <p:spPr>
          <a:xfrm>
            <a:off x="1143000" y="2432304"/>
            <a:ext cx="2286000" cy="603504"/>
          </a:xfrm>
          <a:prstGeom prst="rect">
            <a:avLst/>
          </a:prstGeom>
          <a:noFill/>
          <a:ln/>
        </p:spPr>
        <p:txBody>
          <a:bodyPr wrap="square" lIns="0" tIns="0" rIns="0" bIns="0" rtlCol="0" anchor="ctr"/>
          <a:lstStyle/>
          <a:p>
            <a:pPr marL="0" indent="0">
              <a:buNone/>
            </a:pPr>
            <a:r>
              <a:rPr lang="en-US" sz="1400" b="1" dirty="0">
                <a:solidFill>
                  <a:schemeClr val="tx1"/>
                </a:solidFill>
              </a:rPr>
              <a:t>Lexicon matching</a:t>
            </a:r>
            <a:endParaRPr lang="en-US" sz="1400" dirty="0"/>
          </a:p>
        </p:txBody>
      </p:sp>
      <p:sp>
        <p:nvSpPr>
          <p:cNvPr id="17" name="Text 15"/>
          <p:cNvSpPr txBox="1"/>
          <p:nvPr/>
        </p:nvSpPr>
        <p:spPr>
          <a:xfrm>
            <a:off x="3474720" y="2432304"/>
            <a:ext cx="5029200" cy="603504"/>
          </a:xfrm>
          <a:prstGeom prst="rect">
            <a:avLst/>
          </a:prstGeom>
          <a:noFill/>
          <a:ln/>
        </p:spPr>
        <p:txBody>
          <a:bodyPr wrap="square" lIns="0" tIns="0" rIns="0" bIns="0" rtlCol="0" anchor="ctr"/>
          <a:lstStyle/>
          <a:p>
            <a:pPr marL="0" indent="0">
              <a:buNone/>
            </a:pPr>
            <a:r>
              <a:rPr lang="en-US" sz="1300" dirty="0">
                <a:solidFill>
                  <a:schemeClr val="tx2"/>
                </a:solidFill>
              </a:rPr>
              <a:t>Helps only for words in the vocabulary, and can replace a word with a wrong vocabulary word</a:t>
            </a:r>
            <a:endParaRPr lang="en-US" sz="1300" dirty="0"/>
          </a:p>
        </p:txBody>
      </p:sp>
      <p:sp>
        <p:nvSpPr>
          <p:cNvPr id="18" name="limit-card-3"/>
          <p:cNvSpPr/>
          <p:nvPr/>
        </p:nvSpPr>
        <p:spPr>
          <a:xfrm>
            <a:off x="457200" y="3145536"/>
            <a:ext cx="8229600" cy="603504"/>
          </a:xfrm>
          <a:prstGeom prst="roundRect">
            <a:avLst>
              <a:gd name="adj" fmla="val 12121"/>
            </a:avLst>
          </a:prstGeom>
          <a:solidFill>
            <a:schemeClr val="bg2"/>
          </a:solidFill>
          <a:ln/>
        </p:spPr>
      </p:sp>
      <p:sp>
        <p:nvSpPr>
          <p:cNvPr id="19" name="limit-dot-3"/>
          <p:cNvSpPr/>
          <p:nvPr/>
        </p:nvSpPr>
        <p:spPr>
          <a:xfrm>
            <a:off x="621792" y="3273552"/>
            <a:ext cx="347472" cy="347472"/>
          </a:xfrm>
          <a:prstGeom prst="ellipse">
            <a:avLst/>
          </a:prstGeom>
          <a:solidFill>
            <a:schemeClr val="accent2"/>
          </a:solidFill>
          <a:ln/>
        </p:spPr>
      </p:sp>
      <p:sp>
        <p:nvSpPr>
          <p:cNvPr id="20" name="Text 18"/>
          <p:cNvSpPr txBox="1"/>
          <p:nvPr/>
        </p:nvSpPr>
        <p:spPr>
          <a:xfrm>
            <a:off x="621792" y="3273552"/>
            <a:ext cx="347472" cy="347472"/>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21" name="Text 19"/>
          <p:cNvSpPr txBox="1"/>
          <p:nvPr/>
        </p:nvSpPr>
        <p:spPr>
          <a:xfrm>
            <a:off x="1143000" y="3145536"/>
            <a:ext cx="2286000" cy="603504"/>
          </a:xfrm>
          <a:prstGeom prst="rect">
            <a:avLst/>
          </a:prstGeom>
          <a:noFill/>
          <a:ln/>
        </p:spPr>
        <p:txBody>
          <a:bodyPr wrap="square" lIns="0" tIns="0" rIns="0" bIns="0" rtlCol="0" anchor="ctr"/>
          <a:lstStyle/>
          <a:p>
            <a:pPr marL="0" indent="0">
              <a:buNone/>
            </a:pPr>
            <a:r>
              <a:rPr lang="en-US" sz="1400" b="1" dirty="0">
                <a:solidFill>
                  <a:schemeClr val="tx1"/>
                </a:solidFill>
              </a:rPr>
              <a:t>Page detection</a:t>
            </a:r>
            <a:endParaRPr lang="en-US" sz="1400" dirty="0"/>
          </a:p>
        </p:txBody>
      </p:sp>
      <p:sp>
        <p:nvSpPr>
          <p:cNvPr id="22" name="Text 20"/>
          <p:cNvSpPr txBox="1"/>
          <p:nvPr/>
        </p:nvSpPr>
        <p:spPr>
          <a:xfrm>
            <a:off x="3474720" y="3145536"/>
            <a:ext cx="5029200" cy="603504"/>
          </a:xfrm>
          <a:prstGeom prst="rect">
            <a:avLst/>
          </a:prstGeom>
          <a:noFill/>
          <a:ln/>
        </p:spPr>
        <p:txBody>
          <a:bodyPr wrap="square" lIns="0" tIns="0" rIns="0" bIns="0" rtlCol="0" anchor="ctr"/>
          <a:lstStyle/>
          <a:p>
            <a:pPr marL="0" indent="0">
              <a:buNone/>
            </a:pPr>
            <a:r>
              <a:rPr lang="en-US" sz="1300" dirty="0">
                <a:solidFill>
                  <a:schemeClr val="tx2"/>
                </a:solidFill>
              </a:rPr>
              <a:t>Needs visible contrast between the page and its background</a:t>
            </a:r>
            <a:endParaRPr lang="en-US" sz="1300" dirty="0"/>
          </a:p>
        </p:txBody>
      </p:sp>
      <p:sp>
        <p:nvSpPr>
          <p:cNvPr id="23" name="limit-card-4"/>
          <p:cNvSpPr/>
          <p:nvPr/>
        </p:nvSpPr>
        <p:spPr>
          <a:xfrm>
            <a:off x="457200" y="3858768"/>
            <a:ext cx="8229600" cy="603504"/>
          </a:xfrm>
          <a:prstGeom prst="roundRect">
            <a:avLst>
              <a:gd name="adj" fmla="val 12121"/>
            </a:avLst>
          </a:prstGeom>
          <a:solidFill>
            <a:schemeClr val="bg2"/>
          </a:solidFill>
          <a:ln/>
        </p:spPr>
      </p:sp>
      <p:sp>
        <p:nvSpPr>
          <p:cNvPr id="24" name="limit-dot-4"/>
          <p:cNvSpPr/>
          <p:nvPr/>
        </p:nvSpPr>
        <p:spPr>
          <a:xfrm>
            <a:off x="621792" y="3986784"/>
            <a:ext cx="347472" cy="347472"/>
          </a:xfrm>
          <a:prstGeom prst="ellipse">
            <a:avLst/>
          </a:prstGeom>
          <a:solidFill>
            <a:schemeClr val="accent2"/>
          </a:solidFill>
          <a:ln/>
        </p:spPr>
      </p:sp>
      <p:sp>
        <p:nvSpPr>
          <p:cNvPr id="25" name="Text 23"/>
          <p:cNvSpPr txBox="1"/>
          <p:nvPr/>
        </p:nvSpPr>
        <p:spPr>
          <a:xfrm>
            <a:off x="621792" y="3986784"/>
            <a:ext cx="347472" cy="347472"/>
          </a:xfrm>
          <a:prstGeom prst="rect">
            <a:avLst/>
          </a:prstGeom>
          <a:no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26" name="Text 24"/>
          <p:cNvSpPr txBox="1"/>
          <p:nvPr/>
        </p:nvSpPr>
        <p:spPr>
          <a:xfrm>
            <a:off x="1143000" y="3858768"/>
            <a:ext cx="2286000" cy="603504"/>
          </a:xfrm>
          <a:prstGeom prst="rect">
            <a:avLst/>
          </a:prstGeom>
          <a:noFill/>
          <a:ln/>
        </p:spPr>
        <p:txBody>
          <a:bodyPr wrap="square" lIns="0" tIns="0" rIns="0" bIns="0" rtlCol="0" anchor="ctr"/>
          <a:lstStyle/>
          <a:p>
            <a:pPr marL="0" indent="0">
              <a:buNone/>
            </a:pPr>
            <a:r>
              <a:rPr lang="en-US" sz="1400" b="1" dirty="0">
                <a:solidFill>
                  <a:schemeClr val="tx1"/>
                </a:solidFill>
              </a:rPr>
              <a:t>Candidate score</a:t>
            </a:r>
            <a:endParaRPr lang="en-US" sz="1400" dirty="0"/>
          </a:p>
        </p:txBody>
      </p:sp>
      <p:sp>
        <p:nvSpPr>
          <p:cNvPr id="27" name="Text 25"/>
          <p:cNvSpPr txBox="1"/>
          <p:nvPr/>
        </p:nvSpPr>
        <p:spPr>
          <a:xfrm>
            <a:off x="3474720" y="3858768"/>
            <a:ext cx="5029200" cy="603504"/>
          </a:xfrm>
          <a:prstGeom prst="rect">
            <a:avLst/>
          </a:prstGeom>
          <a:noFill/>
          <a:ln/>
        </p:spPr>
        <p:txBody>
          <a:bodyPr wrap="square" lIns="0" tIns="0" rIns="0" bIns="0" rtlCol="0" anchor="ctr"/>
          <a:lstStyle/>
          <a:p>
            <a:pPr marL="0" indent="0">
              <a:buNone/>
            </a:pPr>
            <a:r>
              <a:rPr lang="en-US" sz="1300" dirty="0">
                <a:solidFill>
                  <a:schemeClr val="tx2"/>
                </a:solidFill>
              </a:rPr>
              <a:t>Selects well among EasyOCR readings, less reliably among Tesseract readings</a:t>
            </a:r>
            <a:endParaRPr lang="en-US" sz="1300" dirty="0"/>
          </a:p>
        </p:txBody>
      </p:sp>
      <p:sp>
        <p:nvSpPr>
          <p:cNvPr id="28"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Ink on Paper">
  <a:themeElements>
    <a:clrScheme name="Ink on Paper">
      <a:dk1>
        <a:srgbClr val="1B2A41"/>
      </a:dk1>
      <a:lt1>
        <a:srgbClr val="FFFFFF"/>
      </a:lt1>
      <a:dk2>
        <a:srgbClr val="4A5568"/>
      </a:dk2>
      <a:lt2>
        <a:srgbClr val="EEF2F7"/>
      </a:lt2>
      <a:accent1>
        <a:srgbClr val="2457A6"/>
      </a:accent1>
      <a:accent2>
        <a:srgbClr val="E07A3F"/>
      </a:accent2>
      <a:accent3>
        <a:srgbClr val="1B9E6E"/>
      </a:accent3>
      <a:accent4>
        <a:srgbClr val="8C9AAE"/>
      </a:accent4>
      <a:accent5>
        <a:srgbClr val="6250D6"/>
      </a:accent5>
      <a:accent6>
        <a:srgbClr val="C9D3E3"/>
      </a:accent6>
      <a:hlink>
        <a:srgbClr val="2457A6"/>
      </a:hlink>
      <a:folHlink>
        <a:srgbClr val="6250D6"/>
      </a:folHlink>
    </a:clrScheme>
    <a:fontScheme name="Ink on Pap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2636</Words>
  <Application>Microsoft Office PowerPoint</Application>
  <PresentationFormat>On-screen Show (16:9)</PresentationFormat>
  <Paragraphs>370</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Ink on Paper</vt:lpstr>
      <vt:lpstr>Handwritten Document Scanner</vt:lpstr>
      <vt:lpstr>Problem and objectives</vt:lpstr>
      <vt:lpstr>System overview</vt:lpstr>
      <vt:lpstr>Stage 1 – Page boundary detection</vt:lpstr>
      <vt:lpstr>Stages 2–3 – Perspective correction and deskew</vt:lpstr>
      <vt:lpstr>Stage 4 – Contrast and illumination normalisation</vt:lpstr>
      <vt:lpstr>Stages 5–6 – Ruled lines and binarisation</vt:lpstr>
      <vt:lpstr>Stage 7 – Recognition and candidate selection</vt:lpstr>
      <vt:lpstr>Stages 8–9 – Post-processing and summarisation</vt:lpstr>
      <vt:lpstr>Evaluation method</vt:lpstr>
      <vt:lpstr>Results – error by capture condition</vt:lpstr>
      <vt:lpstr>Results – ablation on the real photo</vt:lpstr>
      <vt:lpstr>Corrections made to the code</vt:lpstr>
      <vt:lpstr>Limitations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Handwritten Document Scanner</dc:title>
  <dc:subject>PptxGenJS Presentation</dc:subject>
  <dc:creator>Vishesh Vigh, Siddhesh Choubey, Shreyash Kisan Khilare, Surya Pratap</dc:creator>
  <cp:lastModifiedBy>Siddhesh Choubey</cp:lastModifiedBy>
  <cp:revision>2</cp:revision>
  <dcterms:created xsi:type="dcterms:W3CDTF">2026-10-28T21:25:42Z</dcterms:created>
  <dcterms:modified xsi:type="dcterms:W3CDTF">2026-10-29T15:14:22Z</dcterms:modified>
</cp:coreProperties>
</file>